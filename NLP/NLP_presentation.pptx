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 r:id="rId2"/>
    <p:sldId id="270" r:id="rId3"/>
    <p:sldId id="259" r:id="rId4"/>
    <p:sldId id="272" r:id="rId5"/>
    <p:sldId id="274" r:id="rId6"/>
    <p:sldId id="258" r:id="rId7"/>
    <p:sldId id="260" r:id="rId8"/>
    <p:sldId id="261" r:id="rId9"/>
    <p:sldId id="262" r:id="rId10"/>
    <p:sldId id="263" r:id="rId11"/>
    <p:sldId id="264" r:id="rId12"/>
    <p:sldId id="265" r:id="rId13"/>
    <p:sldId id="266" r:id="rId14"/>
    <p:sldId id="275" r:id="rId15"/>
    <p:sldId id="267" r:id="rId16"/>
    <p:sldId id="276" r:id="rId17"/>
    <p:sldId id="27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6" d="100"/>
          <a:sy n="46" d="100"/>
        </p:scale>
        <p:origin x="34" y="7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939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examiners and mentors. Today, I am presenting my internship final project on 'Automated Job Skill Extraction and Recruitment Analytics Pipeline' completed at Technosignia. This project applies statistical NLP and machine learning techniques to convert unstructured job descriptions into structured analytics. As an M.Sc Statistics student, my focus has been on designing a highly consistent, comparative pipeline, and evaluating the methods systematically.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established in Section 1.1, JDs are written in unstructured natural language, making it extremely difficult for traditional software systems to directly digest them. The core friction is twofold: the manual labor of reading/tagging postings, and the high margin of human error or inconsistency when matching resumes. An automated extraction solution solves this by generating structured schemas.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complete technology stack. As documented, we successfully implemented Python, Pandas, Scikit-learn, spaCy, and Streamlit. We also integrated Power BI and Tableau. Hugging Face Transformers are documented as a benchmarking component to understand the state-of-the-art context model. This structured table clarifies what was implemented versus what was researched and documented.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Day 2, we profiled the core dataset. It houses 1,000 listings with absolutely zero empty rows or duplicate values, eliminating typical imputation burdens. The job_description is the main target, averaging 67.6 words with exceptionally low variance, while job_title serves as a rich secondary semantic signal. Demographic columns like salary, location, and company are preserved for later dashboard filtering.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6 covers NLP preprocessing. To transform noisy unstructured strings into standard tokens, the text undergoes lowercase normalization, tokenization, stopword removal, and lemmatization. We highlighted the difference between Stemming (chopping words to roots like 'working' -&gt; 'work') and Lemmatization (using lexical databases to convert 'studies' -&gt; 'study'). This pipeline primes our text for downstream statistics and ML modeling.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represents our system architecture. It starts with Data Cleaning (using BeautifulSoup and Regex to remove HTML, URLs, etc.). Next is the Taxonomy Layer containing 110 canonical skills. We then use statistical methods like TF-IDF and N-grams. Stage 4 introduces machine learning classification and custom spaCy EntityRuler. Finally, the outputs are connected to the interactive Streamlit dashboard enabling users to paste text, see visual chips, and download CSVs.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EDA, the dataset has an initial 1,000 records. After dropping missing rows on Day 9, we have a 910-description corpus. The horizontal bar chart on the right displays the top 10 job titles. Backend Software Engineer is the most common with 99 postings, followed closely by UX/UI Designer with 93, and Digital Marketing with 89. This high concentration is ideal because it gives our statistics-based NLP methods enough text patterns per job title.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Slide 6. We built a structured taxonomy with 110 skills grouped into categories. A key finding was the difference between Exact Matching and Regex + Normalization. SQL exact match captured 193 postings, but by including boundary-aware regex to find aliases (like sql, sql server, structured query language), we captured 255 postings, a 32% increase! Power BI remained at 155, showing there was no abbreviation variation there. The average was 3.26 skills per posting.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covers statistical and semantic techniques. We moved beyond simple dictionary matching. We used TF-IDF on 910 descriptions, which weights skills stochastically. We ran N-gram phrase discovery; Unigrams are too simple, but Bigrams like 'machine learning' (1,306 occurrences) capture multi-word skills. Lastly, we built Latent Semantic Analysis (LSA) by transposing the TF-IDF matrix and applying TruncatedSVD to 100 dimensions, enabling us to run cosine similarity to find synonyms without using a massive pre-trained model.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to Named Entity Recognition on Slide 8. Standard spaCy NER fails on technical words, misclassifying PostgreSQL as a location or Docker as a person. To solve this, we introduced a custom spaCy EntityRuler with 24 rules running before the statistical NER model. We defined 5 specific labels. When we processed 300 job postings, we extracted 1,112 SKILL entities, 195 TOOL, 193 TECHNOLOGY, 153 CLOUD_PLATFORM, and 31 DATABASE entities, as visualized in the vertical bar chart.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highlights our Supervised Machine Learning model. Instead of parsing the whole text, this model classifies individual terms into domain-specific categories like SKILL, DATABASE, CLOUD, etc. We included a critical 'NOT_SKILL' class to capture common stopwords. For feature engineering, we utilized character n-grams (size 2-4) rather than word vectors. This is highly effective because sub-word patterns like 'tf' or 'sql' carry high statistical predictive signal. The classifier used is Logistic Regression.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models' comparison on Slide 10, we evaluated precision, recall, F1, and accuracy. The dictionary method has perfect recall but lower precision (0.6347) because it over-extracts terms without boundaries. The regex, TF-IDF, NER, ML model, and Transformer all score very highly (&gt;0.97 F1). As a statistical warning, the ground truth is derived programmatically from our predefined taxonomy. So, the perfect scores for Regex and Transformer represent consistency with our dictionary rules, rather than a human-annotated gold standard.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statistics students, we must acknowledge that no model is perfect. On Slide 11, we cover Error Analysis. We documented failure modes in Error_Analysis_Report.xlsx. Overgeneralization occurs when we see 'cloud technologies' and predict it as a skill. Spelling variants like 'PowerBI' instead of 'Power BI' can cause misses. We also see partial entities, such as predicting 'Spring Boot framework' instead of the canonical 'Spring Boot'. These findings guide future taxonomy expansions.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12, we discuss the interactive interface. The pipeline's backend is integrated into a Streamlit application named 'Job Skill Extractor &amp; Analytics'. This dashboard has four key areas. First, a high-level Dashboard of metrics. Second, the Extract Skills tab, where users can paste free text and get matched visual chips. Third, the Dataset Explorer to search postings. Fourth, the Skill Analysis tab to explore frequencies and download CSVs.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on Slide 13, this internship has been a vital learning experience. It bridged my M.Sc Statistics academic theory with software engineering, showing me how to deploy models. For future work, I want to expose the extractor via a FastAPI endpoint and build resume-to-job matching based on taxonomy overlap. Thank you Technosignia for this opportunity, and I'm ready for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7488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2076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3781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1071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2881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4309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119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245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4107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4523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787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305162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0879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79643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5099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86426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4008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10-09-2026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580991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1645920"/>
            <a:ext cx="10362895" cy="2926080"/>
          </a:xfrm>
          <a:prstGeom prst="rect">
            <a:avLst/>
          </a:prstGeom>
          <a:noFill/>
        </p:spPr>
        <p:txBody>
          <a:bodyPr wrap="square">
            <a:spAutoFit/>
          </a:bodyPr>
          <a:lstStyle/>
          <a:p>
            <a:pPr>
              <a:spcAft>
                <a:spcPts val="1200"/>
              </a:spcAft>
              <a:defRPr sz="3200" b="1">
                <a:solidFill>
                  <a:srgbClr val="FFFFFF"/>
                </a:solidFill>
                <a:latin typeface="Georgia"/>
              </a:defRPr>
            </a:pPr>
            <a:r>
              <a:t>AUTOMATED JOB SKILL EXTRACTION &amp; RECRUITMENT ANALYTICS PIPELINE</a:t>
            </a:r>
          </a:p>
          <a:p>
            <a:pPr>
              <a:spcAft>
                <a:spcPts val="2400"/>
              </a:spcAft>
              <a:defRPr sz="1800">
                <a:solidFill>
                  <a:srgbClr val="0D9488"/>
                </a:solidFill>
                <a:latin typeface="Arial"/>
              </a:defRPr>
            </a:pPr>
            <a:r>
              <a:t>An End-to-End NLP and Supervised Machine Learning Pipeline for Unstructured Data</a:t>
            </a:r>
          </a:p>
        </p:txBody>
      </p:sp>
      <p:sp>
        <p:nvSpPr>
          <p:cNvPr id="3" name="Rectangle 2"/>
          <p:cNvSpPr/>
          <p:nvPr/>
        </p:nvSpPr>
        <p:spPr>
          <a:xfrm>
            <a:off x="914400" y="4114800"/>
            <a:ext cx="3657600" cy="381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4572000"/>
            <a:ext cx="10362895" cy="1645920"/>
          </a:xfrm>
          <a:prstGeom prst="rect">
            <a:avLst/>
          </a:prstGeom>
          <a:noFill/>
        </p:spPr>
        <p:txBody>
          <a:bodyPr wrap="square">
            <a:spAutoFit/>
          </a:bodyPr>
          <a:lstStyle/>
          <a:p>
            <a:pPr>
              <a:spcAft>
                <a:spcPts val="400"/>
              </a:spcAft>
              <a:defRPr sz="1400" b="1">
                <a:solidFill>
                  <a:srgbClr val="FFFFFF"/>
                </a:solidFill>
                <a:latin typeface="Arial"/>
              </a:defRPr>
            </a:pPr>
            <a:r>
              <a:t>Prepared by: SHRADDHA SANTOSH SANTIUR  |  M.SC STATISTICS</a:t>
            </a:r>
          </a:p>
          <a:p>
            <a:pPr>
              <a:defRPr sz="1300">
                <a:solidFill>
                  <a:srgbClr val="64748B"/>
                </a:solidFill>
                <a:latin typeface="Arial"/>
              </a:defRPr>
            </a:pPr>
            <a:r>
              <a:t>Internship Organization: TECHNOSIGNIA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1E293B"/>
                </a:solidFill>
                <a:effectLst/>
                <a:uLnTx/>
                <a:uFillTx/>
                <a:latin typeface="Georgia"/>
                <a:ea typeface="+mn-ea"/>
                <a:cs typeface="+mn-cs"/>
              </a:rPr>
              <a:t>Unstructured Job Descriptions Create Manual Bottlenecks and Prevent Automated ATS Processing</a:t>
            </a:r>
          </a:p>
        </p:txBody>
      </p:sp>
      <p:sp>
        <p:nvSpPr>
          <p:cNvPr id="3" name="Rectangle 2"/>
          <p:cNvSpPr/>
          <p:nvPr/>
        </p:nvSpPr>
        <p:spPr>
          <a:xfrm>
            <a:off x="731520" y="1143000"/>
            <a:ext cx="10728655" cy="317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ounded Rectangle 3"/>
          <p:cNvSpPr/>
          <p:nvPr/>
        </p:nvSpPr>
        <p:spPr>
          <a:xfrm>
            <a:off x="731520" y="1645920"/>
            <a:ext cx="5120640" cy="438912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1005840" y="1920240"/>
            <a:ext cx="4572000" cy="384048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kumimoji="0" sz="1800" b="1" i="0" u="none" strike="noStrike" kern="1200" cap="none" spc="0" normalizeH="0" baseline="0" noProof="0">
                <a:ln>
                  <a:noFill/>
                </a:ln>
                <a:solidFill>
                  <a:srgbClr val="0D9488"/>
                </a:solidFill>
                <a:effectLst/>
                <a:uLnTx/>
                <a:uFillTx/>
                <a:latin typeface="Georgia"/>
                <a:ea typeface="+mn-ea"/>
                <a:cs typeface="+mn-cs"/>
              </a:rPr>
              <a:t>THE PROBLEM</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1400" b="1" i="0" u="none" strike="noStrike" kern="1200" cap="none" spc="0" normalizeH="0" baseline="0" noProof="0">
                <a:ln>
                  <a:noFill/>
                </a:ln>
                <a:solidFill>
                  <a:srgbClr val="1E293B"/>
                </a:solidFill>
                <a:effectLst/>
                <a:uLnTx/>
                <a:uFillTx/>
                <a:latin typeface="Calibri"/>
                <a:ea typeface="+mn-ea"/>
                <a:cs typeface="+mn-cs"/>
              </a:rPr>
              <a:t>• Free-Form Language: </a:t>
            </a:r>
            <a:r>
              <a:rPr kumimoji="0" sz="1300" b="0" i="0" u="none" strike="noStrike" kern="1200" cap="none" spc="0" normalizeH="0" baseline="0" noProof="0">
                <a:ln>
                  <a:noFill/>
                </a:ln>
                <a:solidFill>
                  <a:srgbClr val="64748B"/>
                </a:solidFill>
                <a:effectLst/>
                <a:uLnTx/>
                <a:uFillTx/>
                <a:latin typeface="Calibri"/>
                <a:ea typeface="+mn-ea"/>
                <a:cs typeface="+mn-cs"/>
              </a:rPr>
              <a:t>Job descriptions (JDs) are published by employers in highly unstructured, free-form natural language, written without rigid schemas.</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1400" b="1" i="0" u="none" strike="noStrike" kern="1200" cap="none" spc="0" normalizeH="0" baseline="0" noProof="0">
                <a:ln>
                  <a:noFill/>
                </a:ln>
                <a:solidFill>
                  <a:srgbClr val="1E293B"/>
                </a:solidFill>
                <a:effectLst/>
                <a:uLnTx/>
                <a:uFillTx/>
                <a:latin typeface="Calibri"/>
                <a:ea typeface="+mn-ea"/>
                <a:cs typeface="+mn-cs"/>
              </a:rPr>
              <a:t>• Information Noise: </a:t>
            </a:r>
            <a:r>
              <a:rPr kumimoji="0" sz="1300" b="0" i="0" u="none" strike="noStrike" kern="1200" cap="none" spc="0" normalizeH="0" baseline="0" noProof="0">
                <a:ln>
                  <a:noFill/>
                </a:ln>
                <a:solidFill>
                  <a:srgbClr val="64748B"/>
                </a:solidFill>
                <a:effectLst/>
                <a:uLnTx/>
                <a:uFillTx/>
                <a:latin typeface="Calibri"/>
                <a:ea typeface="+mn-ea"/>
                <a:cs typeface="+mn-cs"/>
              </a:rPr>
              <a:t>Critical requirements like tools, software, and soft skills are deeply embedded inside verbose text, mixed with corporate values and contact details.</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1400" b="1" i="0" u="none" strike="noStrike" kern="1200" cap="none" spc="0" normalizeH="0" baseline="0" noProof="0">
                <a:ln>
                  <a:noFill/>
                </a:ln>
                <a:solidFill>
                  <a:srgbClr val="1E293B"/>
                </a:solidFill>
                <a:effectLst/>
                <a:uLnTx/>
                <a:uFillTx/>
                <a:latin typeface="Calibri"/>
                <a:ea typeface="+mn-ea"/>
                <a:cs typeface="+mn-cs"/>
              </a:rPr>
              <a:t>• Recruitment Friction: </a:t>
            </a:r>
            <a:r>
              <a:rPr kumimoji="0" sz="1300" b="0" i="0" u="none" strike="noStrike" kern="1200" cap="none" spc="0" normalizeH="0" baseline="0" noProof="0">
                <a:ln>
                  <a:noFill/>
                </a:ln>
                <a:solidFill>
                  <a:srgbClr val="64748B"/>
                </a:solidFill>
                <a:effectLst/>
                <a:uLnTx/>
                <a:uFillTx/>
                <a:latin typeface="Calibri"/>
                <a:ea typeface="+mn-ea"/>
                <a:cs typeface="+mn-cs"/>
              </a:rPr>
              <a:t>The lack of standardized tags forces HR teams to manually read and tag thousands of job postings to verify candidate alignment, introducing massive delay.</a:t>
            </a:r>
          </a:p>
        </p:txBody>
      </p:sp>
      <p:sp>
        <p:nvSpPr>
          <p:cNvPr id="6" name="Rounded Rectangle 5"/>
          <p:cNvSpPr/>
          <p:nvPr/>
        </p:nvSpPr>
        <p:spPr>
          <a:xfrm>
            <a:off x="6309360" y="1645920"/>
            <a:ext cx="5120640" cy="438912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583680" y="1920240"/>
            <a:ext cx="4572000" cy="384048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kumimoji="0" sz="1800" b="1" i="0" u="none" strike="noStrike" kern="1200" cap="none" spc="0" normalizeH="0" baseline="0" noProof="0">
                <a:ln>
                  <a:noFill/>
                </a:ln>
                <a:solidFill>
                  <a:srgbClr val="D97706"/>
                </a:solidFill>
                <a:effectLst/>
                <a:uLnTx/>
                <a:uFillTx/>
                <a:latin typeface="Georgia"/>
                <a:ea typeface="+mn-ea"/>
                <a:cs typeface="+mn-cs"/>
              </a:rPr>
              <a:t>THE ANALYTICAL VOID</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1400" b="1" i="0" u="none" strike="noStrike" kern="1200" cap="none" spc="0" normalizeH="0" baseline="0" noProof="0">
                <a:ln>
                  <a:noFill/>
                </a:ln>
                <a:solidFill>
                  <a:srgbClr val="1E293B"/>
                </a:solidFill>
                <a:effectLst/>
                <a:uLnTx/>
                <a:uFillTx/>
                <a:latin typeface="Calibri"/>
                <a:ea typeface="+mn-ea"/>
                <a:cs typeface="+mn-cs"/>
              </a:rPr>
              <a:t>• Inconsistent Matching: </a:t>
            </a:r>
            <a:r>
              <a:rPr kumimoji="0" sz="1300" b="0" i="0" u="none" strike="noStrike" kern="1200" cap="none" spc="0" normalizeH="0" baseline="0" noProof="0">
                <a:ln>
                  <a:noFill/>
                </a:ln>
                <a:solidFill>
                  <a:srgbClr val="64748B"/>
                </a:solidFill>
                <a:effectLst/>
                <a:uLnTx/>
                <a:uFillTx/>
                <a:latin typeface="Calibri"/>
                <a:ea typeface="+mn-ea"/>
                <a:cs typeface="+mn-cs"/>
              </a:rPr>
              <a:t>Manual filtering creates standard-mismatch; a resume containing 'PostgreSQL' may be missed if the recruiter only searches for the tag 'SQL'.</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1400" b="1" i="0" u="none" strike="noStrike" kern="1200" cap="none" spc="0" normalizeH="0" baseline="0" noProof="0">
                <a:ln>
                  <a:noFill/>
                </a:ln>
                <a:solidFill>
                  <a:srgbClr val="1E293B"/>
                </a:solidFill>
                <a:effectLst/>
                <a:uLnTx/>
                <a:uFillTx/>
                <a:latin typeface="Calibri"/>
                <a:ea typeface="+mn-ea"/>
                <a:cs typeface="+mn-cs"/>
              </a:rPr>
              <a:t>• System Disconnect: </a:t>
            </a:r>
            <a:r>
              <a:rPr kumimoji="0" sz="1300" b="0" i="0" u="none" strike="noStrike" kern="1200" cap="none" spc="0" normalizeH="0" baseline="0" noProof="0">
                <a:ln>
                  <a:noFill/>
                </a:ln>
                <a:solidFill>
                  <a:srgbClr val="64748B"/>
                </a:solidFill>
                <a:effectLst/>
                <a:uLnTx/>
                <a:uFillTx/>
                <a:latin typeface="Calibri"/>
                <a:ea typeface="+mn-ea"/>
                <a:cs typeface="+mn-cs"/>
              </a:rPr>
              <a:t>Applicant Tracking Systems (ATS) and job portal recommendations cannot directly read unstructured JDs to match qualified applicants dynamically.</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1400" b="1" i="0" u="none" strike="noStrike" kern="1200" cap="none" spc="0" normalizeH="0" baseline="0" noProof="0">
                <a:ln>
                  <a:noFill/>
                </a:ln>
                <a:solidFill>
                  <a:srgbClr val="1E293B"/>
                </a:solidFill>
                <a:effectLst/>
                <a:uLnTx/>
                <a:uFillTx/>
                <a:latin typeface="Calibri"/>
                <a:ea typeface="+mn-ea"/>
                <a:cs typeface="+mn-cs"/>
              </a:rPr>
              <a:t>• Market Blindness: </a:t>
            </a:r>
            <a:r>
              <a:rPr kumimoji="0" sz="1300" b="0" i="0" u="none" strike="noStrike" kern="1200" cap="none" spc="0" normalizeH="0" baseline="0" noProof="0">
                <a:ln>
                  <a:noFill/>
                </a:ln>
                <a:solidFill>
                  <a:srgbClr val="64748B"/>
                </a:solidFill>
                <a:effectLst/>
                <a:uLnTx/>
                <a:uFillTx/>
                <a:latin typeface="Calibri"/>
                <a:ea typeface="+mn-ea"/>
                <a:cs typeface="+mn-cs"/>
              </a:rPr>
              <a:t>Organizations cannot aggregate live postings to analyze macroeconomic technology trends or immediately recognize localized skill-demand spikes.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Python stack powers implementation from cleaning to dashboard</a:t>
            </a:r>
          </a:p>
          <a:p>
            <a:pPr>
              <a:defRPr sz="1200" i="1">
                <a:solidFill>
                  <a:srgbClr val="0D9488"/>
                </a:solidFill>
                <a:latin typeface="Arial"/>
              </a:defRPr>
            </a:pPr>
            <a:r>
              <a:t>Comprehensive Technology Stack Mapping</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554480"/>
            <a:ext cx="4114800" cy="4389120"/>
          </a:xfrm>
          <a:prstGeom prst="rect">
            <a:avLst/>
          </a:prstGeom>
          <a:noFill/>
        </p:spPr>
        <p:txBody>
          <a:bodyPr wrap="square">
            <a:spAutoFit/>
          </a:bodyPr>
          <a:lstStyle/>
          <a:p>
            <a:pPr>
              <a:spcAft>
                <a:spcPts val="1200"/>
              </a:spcAft>
              <a:defRPr sz="1800" b="1">
                <a:solidFill>
                  <a:srgbClr val="1E3A8A"/>
                </a:solidFill>
                <a:latin typeface="Georgia"/>
              </a:defRPr>
            </a:pPr>
            <a:r>
              <a:t>Technical Implementation Choices</a:t>
            </a:r>
          </a:p>
          <a:p>
            <a:pPr>
              <a:spcBef>
                <a:spcPts val="300"/>
              </a:spcBef>
              <a:spcAft>
                <a:spcPts val="700"/>
              </a:spcAft>
            </a:pPr>
            <a:r>
              <a:rPr sz="1350">
                <a:solidFill>
                  <a:srgbClr val="0D9488"/>
                </a:solidFill>
                <a:latin typeface="Arial"/>
              </a:rPr>
              <a:t>▪ </a:t>
            </a:r>
            <a:r>
              <a:rPr sz="1350" b="1">
                <a:solidFill>
                  <a:srgbClr val="0F172A"/>
                </a:solidFill>
                <a:latin typeface="Arial"/>
              </a:rPr>
              <a:t>Core Processing: </a:t>
            </a:r>
            <a:r>
              <a:rPr sz="1350">
                <a:solidFill>
                  <a:srgbClr val="64748B"/>
                </a:solidFill>
                <a:latin typeface="Arial"/>
              </a:rPr>
              <a:t>Python serves as the main language. Pandas and NumPy handle data preparation and evaluation matrices.</a:t>
            </a:r>
          </a:p>
          <a:p>
            <a:pPr>
              <a:spcBef>
                <a:spcPts val="300"/>
              </a:spcBef>
              <a:spcAft>
                <a:spcPts val="700"/>
              </a:spcAft>
            </a:pPr>
            <a:r>
              <a:rPr sz="1350">
                <a:solidFill>
                  <a:srgbClr val="0D9488"/>
                </a:solidFill>
                <a:latin typeface="Arial"/>
              </a:rPr>
              <a:t>▪ </a:t>
            </a:r>
            <a:r>
              <a:rPr sz="1350" b="1">
                <a:solidFill>
                  <a:srgbClr val="0F172A"/>
                </a:solidFill>
                <a:latin typeface="Arial"/>
              </a:rPr>
              <a:t>NLP &amp; ML Frameworks: </a:t>
            </a:r>
            <a:r>
              <a:rPr sz="1350">
                <a:solidFill>
                  <a:srgbClr val="64748B"/>
                </a:solidFill>
                <a:latin typeface="Arial"/>
              </a:rPr>
              <a:t>Scikit-learn powers term categorization (Logistic Regression) and LSA embeddings. spaCy and Transformers handle Named Entity Recognition.</a:t>
            </a:r>
          </a:p>
          <a:p>
            <a:pPr>
              <a:spcBef>
                <a:spcPts val="300"/>
              </a:spcBef>
              <a:spcAft>
                <a:spcPts val="700"/>
              </a:spcAft>
            </a:pPr>
            <a:r>
              <a:rPr sz="1350">
                <a:solidFill>
                  <a:srgbClr val="0D9488"/>
                </a:solidFill>
                <a:latin typeface="Arial"/>
              </a:rPr>
              <a:t>▪ </a:t>
            </a:r>
            <a:r>
              <a:rPr sz="1350" b="1">
                <a:solidFill>
                  <a:srgbClr val="0F172A"/>
                </a:solidFill>
                <a:latin typeface="Arial"/>
              </a:rPr>
              <a:t>Deployment: </a:t>
            </a:r>
            <a:r>
              <a:rPr sz="1350">
                <a:solidFill>
                  <a:srgbClr val="64748B"/>
                </a:solidFill>
                <a:latin typeface="Arial"/>
              </a:rPr>
              <a:t>Streamlit is used for the user interface, ensuring easy integration without separate API overhead.</a:t>
            </a:r>
          </a:p>
        </p:txBody>
      </p:sp>
      <p:graphicFrame>
        <p:nvGraphicFramePr>
          <p:cNvPr id="5" name="Table 4"/>
          <p:cNvGraphicFramePr>
            <a:graphicFrameLocks noGrp="1"/>
          </p:cNvGraphicFramePr>
          <p:nvPr>
            <p:extLst>
              <p:ext uri="{D42A27DB-BD31-4B8C-83A1-F6EECF244321}">
                <p14:modId xmlns:p14="http://schemas.microsoft.com/office/powerpoint/2010/main" val="2695188389"/>
              </p:ext>
            </p:extLst>
          </p:nvPr>
        </p:nvGraphicFramePr>
        <p:xfrm>
          <a:off x="4937760" y="1554480"/>
          <a:ext cx="667512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548640">
                <a:tc>
                  <a:txBody>
                    <a:bodyPr/>
                    <a:lstStyle/>
                    <a:p>
                      <a:pPr algn="ctr"/>
                      <a:r>
                        <a:rPr sz="1200" b="1">
                          <a:solidFill>
                            <a:srgbClr val="FFFFFF"/>
                          </a:solidFill>
                          <a:latin typeface="Arial"/>
                        </a:rPr>
                        <a:t>Technology / Tool</a:t>
                      </a:r>
                    </a:p>
                  </a:txBody>
                  <a:tcPr>
                    <a:solidFill>
                      <a:srgbClr val="1E3A8A"/>
                    </a:solidFill>
                  </a:tcPr>
                </a:tc>
                <a:tc>
                  <a:txBody>
                    <a:bodyPr/>
                    <a:lstStyle/>
                    <a:p>
                      <a:pPr algn="ctr"/>
                      <a:r>
                        <a:rPr sz="1200" b="1">
                          <a:solidFill>
                            <a:srgbClr val="FFFFFF"/>
                          </a:solidFill>
                          <a:latin typeface="Arial"/>
                        </a:rPr>
                        <a:t>Status</a:t>
                      </a:r>
                    </a:p>
                  </a:txBody>
                  <a:tcPr>
                    <a:solidFill>
                      <a:srgbClr val="1E3A8A"/>
                    </a:solidFill>
                  </a:tcPr>
                </a:tc>
                <a:tc>
                  <a:txBody>
                    <a:bodyPr/>
                    <a:lstStyle/>
                    <a:p>
                      <a:pPr algn="ctr"/>
                      <a:r>
                        <a:rPr sz="1200" b="1">
                          <a:solidFill>
                            <a:srgbClr val="FFFFFF"/>
                          </a:solidFill>
                          <a:latin typeface="Arial"/>
                        </a:rPr>
                        <a:t>Role in Project</a:t>
                      </a:r>
                    </a:p>
                  </a:txBody>
                  <a:tcPr>
                    <a:solidFill>
                      <a:srgbClr val="1E3A8A"/>
                    </a:solidFill>
                  </a:tcPr>
                </a:tc>
                <a:extLst>
                  <a:ext uri="{0D108BD9-81ED-4DB2-BD59-A6C34878D82A}">
                    <a16:rowId xmlns:a16="http://schemas.microsoft.com/office/drawing/2014/main" val="10000"/>
                  </a:ext>
                </a:extLst>
              </a:tr>
              <a:tr h="548640">
                <a:tc>
                  <a:txBody>
                    <a:bodyPr/>
                    <a:lstStyle/>
                    <a:p>
                      <a:pPr algn="l"/>
                      <a:r>
                        <a:rPr sz="1050" b="1">
                          <a:solidFill>
                            <a:srgbClr val="0F172A"/>
                          </a:solidFill>
                          <a:latin typeface="Arial"/>
                        </a:rPr>
                        <a:t>Python</a:t>
                      </a:r>
                    </a:p>
                  </a:txBody>
                  <a:tcPr>
                    <a:solidFill>
                      <a:srgbClr val="F8FAFC"/>
                    </a:solidFill>
                  </a:tcPr>
                </a:tc>
                <a:tc>
                  <a:txBody>
                    <a:bodyPr/>
                    <a:lstStyle/>
                    <a:p>
                      <a:pPr algn="ctr"/>
                      <a:r>
                        <a:rPr sz="1050" b="1">
                          <a:solidFill>
                            <a:srgbClr val="0D9488"/>
                          </a:solidFill>
                          <a:latin typeface="Arial"/>
                        </a:rPr>
                        <a:t>Implemented</a:t>
                      </a:r>
                    </a:p>
                  </a:txBody>
                  <a:tcPr>
                    <a:solidFill>
                      <a:srgbClr val="F8FAFC"/>
                    </a:solidFill>
                  </a:tcPr>
                </a:tc>
                <a:tc>
                  <a:txBody>
                    <a:bodyPr/>
                    <a:lstStyle/>
                    <a:p>
                      <a:pPr algn="l"/>
                      <a:r>
                        <a:rPr sz="1050">
                          <a:solidFill>
                            <a:srgbClr val="0F172A"/>
                          </a:solidFill>
                          <a:latin typeface="Arial"/>
                        </a:rPr>
                        <a:t>Core language for data processing, NLP, and model training.</a:t>
                      </a:r>
                    </a:p>
                  </a:txBody>
                  <a:tcPr>
                    <a:solidFill>
                      <a:srgbClr val="F8FAFC"/>
                    </a:solidFill>
                  </a:tcPr>
                </a:tc>
                <a:extLst>
                  <a:ext uri="{0D108BD9-81ED-4DB2-BD59-A6C34878D82A}">
                    <a16:rowId xmlns:a16="http://schemas.microsoft.com/office/drawing/2014/main" val="10001"/>
                  </a:ext>
                </a:extLst>
              </a:tr>
              <a:tr h="548640">
                <a:tc>
                  <a:txBody>
                    <a:bodyPr/>
                    <a:lstStyle/>
                    <a:p>
                      <a:pPr algn="l"/>
                      <a:r>
                        <a:rPr sz="1050" b="1">
                          <a:solidFill>
                            <a:srgbClr val="0F172A"/>
                          </a:solidFill>
                          <a:latin typeface="Arial"/>
                        </a:rPr>
                        <a:t>Pandas &amp; NumPy</a:t>
                      </a:r>
                    </a:p>
                  </a:txBody>
                  <a:tcPr>
                    <a:solidFill>
                      <a:srgbClr val="FFFFFF"/>
                    </a:solidFill>
                  </a:tcPr>
                </a:tc>
                <a:tc>
                  <a:txBody>
                    <a:bodyPr/>
                    <a:lstStyle/>
                    <a:p>
                      <a:pPr algn="ctr"/>
                      <a:r>
                        <a:rPr sz="1050" b="1">
                          <a:solidFill>
                            <a:srgbClr val="0D9488"/>
                          </a:solidFill>
                          <a:latin typeface="Arial"/>
                        </a:rPr>
                        <a:t>Implemented</a:t>
                      </a:r>
                    </a:p>
                  </a:txBody>
                  <a:tcPr>
                    <a:solidFill>
                      <a:srgbClr val="FFFFFF"/>
                    </a:solidFill>
                  </a:tcPr>
                </a:tc>
                <a:tc>
                  <a:txBody>
                    <a:bodyPr/>
                    <a:lstStyle/>
                    <a:p>
                      <a:pPr algn="l"/>
                      <a:r>
                        <a:rPr sz="1050">
                          <a:solidFill>
                            <a:srgbClr val="0F172A"/>
                          </a:solidFill>
                          <a:latin typeface="Arial"/>
                        </a:rPr>
                        <a:t>Dataset manipulation, cleaning, and performance evaluation.</a:t>
                      </a:r>
                    </a:p>
                  </a:txBody>
                  <a:tcPr>
                    <a:solidFill>
                      <a:srgbClr val="FFFFFF"/>
                    </a:solidFill>
                  </a:tcPr>
                </a:tc>
                <a:extLst>
                  <a:ext uri="{0D108BD9-81ED-4DB2-BD59-A6C34878D82A}">
                    <a16:rowId xmlns:a16="http://schemas.microsoft.com/office/drawing/2014/main" val="10002"/>
                  </a:ext>
                </a:extLst>
              </a:tr>
              <a:tr h="548640">
                <a:tc>
                  <a:txBody>
                    <a:bodyPr/>
                    <a:lstStyle/>
                    <a:p>
                      <a:pPr algn="l"/>
                      <a:r>
                        <a:rPr sz="1050" b="1">
                          <a:solidFill>
                            <a:srgbClr val="0F172A"/>
                          </a:solidFill>
                          <a:latin typeface="Arial"/>
                        </a:rPr>
                        <a:t>Scikit-learn</a:t>
                      </a:r>
                    </a:p>
                  </a:txBody>
                  <a:tcPr>
                    <a:solidFill>
                      <a:srgbClr val="F8FAFC"/>
                    </a:solidFill>
                  </a:tcPr>
                </a:tc>
                <a:tc>
                  <a:txBody>
                    <a:bodyPr/>
                    <a:lstStyle/>
                    <a:p>
                      <a:pPr algn="ctr"/>
                      <a:r>
                        <a:rPr sz="1050" b="1">
                          <a:solidFill>
                            <a:srgbClr val="0D9488"/>
                          </a:solidFill>
                          <a:latin typeface="Arial"/>
                        </a:rPr>
                        <a:t>Implemented</a:t>
                      </a:r>
                    </a:p>
                  </a:txBody>
                  <a:tcPr>
                    <a:solidFill>
                      <a:srgbClr val="F8FAFC"/>
                    </a:solidFill>
                  </a:tcPr>
                </a:tc>
                <a:tc>
                  <a:txBody>
                    <a:bodyPr/>
                    <a:lstStyle/>
                    <a:p>
                      <a:pPr algn="l"/>
                      <a:r>
                        <a:rPr sz="1050">
                          <a:solidFill>
                            <a:srgbClr val="0F172A"/>
                          </a:solidFill>
                          <a:latin typeface="Arial"/>
                        </a:rPr>
                        <a:t>TF-IDF vectorizer, LSA SVD, and Logistic Regression model.</a:t>
                      </a:r>
                    </a:p>
                  </a:txBody>
                  <a:tcPr>
                    <a:solidFill>
                      <a:srgbClr val="F8FAFC"/>
                    </a:solidFill>
                  </a:tcPr>
                </a:tc>
                <a:extLst>
                  <a:ext uri="{0D108BD9-81ED-4DB2-BD59-A6C34878D82A}">
                    <a16:rowId xmlns:a16="http://schemas.microsoft.com/office/drawing/2014/main" val="10003"/>
                  </a:ext>
                </a:extLst>
              </a:tr>
              <a:tr h="548640">
                <a:tc>
                  <a:txBody>
                    <a:bodyPr/>
                    <a:lstStyle/>
                    <a:p>
                      <a:pPr algn="l"/>
                      <a:r>
                        <a:rPr sz="1050" b="1">
                          <a:solidFill>
                            <a:srgbClr val="0F172A"/>
                          </a:solidFill>
                          <a:latin typeface="Arial"/>
                        </a:rPr>
                        <a:t>spaCy</a:t>
                      </a:r>
                    </a:p>
                  </a:txBody>
                  <a:tcPr>
                    <a:solidFill>
                      <a:srgbClr val="FFFFFF"/>
                    </a:solidFill>
                  </a:tcPr>
                </a:tc>
                <a:tc>
                  <a:txBody>
                    <a:bodyPr/>
                    <a:lstStyle/>
                    <a:p>
                      <a:pPr algn="ctr"/>
                      <a:r>
                        <a:rPr sz="1050" b="1" dirty="0">
                          <a:solidFill>
                            <a:srgbClr val="0D9488"/>
                          </a:solidFill>
                          <a:latin typeface="Arial"/>
                        </a:rPr>
                        <a:t>Implemented</a:t>
                      </a:r>
                    </a:p>
                  </a:txBody>
                  <a:tcPr>
                    <a:solidFill>
                      <a:srgbClr val="FFFFFF"/>
                    </a:solidFill>
                  </a:tcPr>
                </a:tc>
                <a:tc>
                  <a:txBody>
                    <a:bodyPr/>
                    <a:lstStyle/>
                    <a:p>
                      <a:pPr algn="l"/>
                      <a:r>
                        <a:rPr sz="1050">
                          <a:solidFill>
                            <a:srgbClr val="0F172A"/>
                          </a:solidFill>
                          <a:latin typeface="Arial"/>
                        </a:rPr>
                        <a:t>Rule-based Custom EntityRuler + Statistical NER.</a:t>
                      </a:r>
                    </a:p>
                  </a:txBody>
                  <a:tcPr>
                    <a:solidFill>
                      <a:srgbClr val="FFFFFF"/>
                    </a:solidFill>
                  </a:tcPr>
                </a:tc>
                <a:extLst>
                  <a:ext uri="{0D108BD9-81ED-4DB2-BD59-A6C34878D82A}">
                    <a16:rowId xmlns:a16="http://schemas.microsoft.com/office/drawing/2014/main" val="10004"/>
                  </a:ext>
                </a:extLst>
              </a:tr>
              <a:tr h="548640">
                <a:tc>
                  <a:txBody>
                    <a:bodyPr/>
                    <a:lstStyle/>
                    <a:p>
                      <a:pPr algn="l"/>
                      <a:r>
                        <a:rPr sz="1050" b="1">
                          <a:solidFill>
                            <a:srgbClr val="0F172A"/>
                          </a:solidFill>
                          <a:latin typeface="Arial"/>
                        </a:rPr>
                        <a:t>Transformers (Hugging Face)</a:t>
                      </a:r>
                    </a:p>
                  </a:txBody>
                  <a:tcPr>
                    <a:solidFill>
                      <a:srgbClr val="F8FAF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50" b="1" dirty="0">
                          <a:solidFill>
                            <a:srgbClr val="0D9488"/>
                          </a:solidFill>
                          <a:latin typeface="Arial"/>
                        </a:rPr>
                        <a:t>Implemented</a:t>
                      </a:r>
                    </a:p>
                    <a:p>
                      <a:pPr algn="ctr"/>
                      <a:endParaRPr sz="1050" b="1" dirty="0">
                        <a:solidFill>
                          <a:srgbClr val="D97706"/>
                        </a:solidFill>
                        <a:latin typeface="Arial"/>
                      </a:endParaRPr>
                    </a:p>
                  </a:txBody>
                  <a:tcPr>
                    <a:solidFill>
                      <a:srgbClr val="F8FAFC"/>
                    </a:solidFill>
                  </a:tcPr>
                </a:tc>
                <a:tc>
                  <a:txBody>
                    <a:bodyPr/>
                    <a:lstStyle/>
                    <a:p>
                      <a:pPr algn="l"/>
                      <a:r>
                        <a:rPr sz="1050">
                          <a:solidFill>
                            <a:srgbClr val="0F172A"/>
                          </a:solidFill>
                          <a:latin typeface="Arial"/>
                        </a:rPr>
                        <a:t>Pretrained dslim/bert-base-NER pipeline benchmarking.</a:t>
                      </a:r>
                    </a:p>
                  </a:txBody>
                  <a:tcPr>
                    <a:solidFill>
                      <a:srgbClr val="F8FAFC"/>
                    </a:solidFill>
                  </a:tcPr>
                </a:tc>
                <a:extLst>
                  <a:ext uri="{0D108BD9-81ED-4DB2-BD59-A6C34878D82A}">
                    <a16:rowId xmlns:a16="http://schemas.microsoft.com/office/drawing/2014/main" val="10005"/>
                  </a:ext>
                </a:extLst>
              </a:tr>
              <a:tr h="548640">
                <a:tc>
                  <a:txBody>
                    <a:bodyPr/>
                    <a:lstStyle/>
                    <a:p>
                      <a:pPr algn="l"/>
                      <a:r>
                        <a:rPr sz="1050" b="1">
                          <a:solidFill>
                            <a:srgbClr val="0F172A"/>
                          </a:solidFill>
                          <a:latin typeface="Arial"/>
                        </a:rPr>
                        <a:t>Streamlit</a:t>
                      </a:r>
                    </a:p>
                  </a:txBody>
                  <a:tcPr>
                    <a:solidFill>
                      <a:srgbClr val="FFFFFF"/>
                    </a:solidFill>
                  </a:tcPr>
                </a:tc>
                <a:tc>
                  <a:txBody>
                    <a:bodyPr/>
                    <a:lstStyle/>
                    <a:p>
                      <a:pPr algn="ctr"/>
                      <a:r>
                        <a:rPr sz="1050" b="1">
                          <a:solidFill>
                            <a:srgbClr val="0D9488"/>
                          </a:solidFill>
                          <a:latin typeface="Arial"/>
                        </a:rPr>
                        <a:t>Implemented</a:t>
                      </a:r>
                    </a:p>
                  </a:txBody>
                  <a:tcPr>
                    <a:solidFill>
                      <a:srgbClr val="FFFFFF"/>
                    </a:solidFill>
                  </a:tcPr>
                </a:tc>
                <a:tc>
                  <a:txBody>
                    <a:bodyPr/>
                    <a:lstStyle/>
                    <a:p>
                      <a:pPr algn="l"/>
                      <a:r>
                        <a:rPr sz="1050">
                          <a:solidFill>
                            <a:srgbClr val="0F172A"/>
                          </a:solidFill>
                          <a:latin typeface="Arial"/>
                        </a:rPr>
                        <a:t>Interactive extractor and visual analytics dashboard.</a:t>
                      </a:r>
                    </a:p>
                  </a:txBody>
                  <a:tcPr>
                    <a:solidFill>
                      <a:srgbClr val="FFFFFF"/>
                    </a:solidFill>
                  </a:tcPr>
                </a:tc>
                <a:extLst>
                  <a:ext uri="{0D108BD9-81ED-4DB2-BD59-A6C34878D82A}">
                    <a16:rowId xmlns:a16="http://schemas.microsoft.com/office/drawing/2014/main" val="10006"/>
                  </a:ext>
                </a:extLst>
              </a:tr>
              <a:tr h="548640">
                <a:tc>
                  <a:txBody>
                    <a:bodyPr/>
                    <a:lstStyle/>
                    <a:p>
                      <a:pPr algn="l"/>
                      <a:r>
                        <a:rPr sz="1050" b="1">
                          <a:solidFill>
                            <a:srgbClr val="0F172A"/>
                          </a:solidFill>
                          <a:latin typeface="Arial"/>
                        </a:rPr>
                        <a:t>Power BI / Tableau</a:t>
                      </a:r>
                    </a:p>
                  </a:txBody>
                  <a:tcPr>
                    <a:solidFill>
                      <a:srgbClr val="F8FAFC"/>
                    </a:solidFill>
                  </a:tcPr>
                </a:tc>
                <a:tc>
                  <a:txBody>
                    <a:bodyPr/>
                    <a:lstStyle/>
                    <a:p>
                      <a:pPr algn="ctr"/>
                      <a:r>
                        <a:rPr sz="1050" b="1">
                          <a:solidFill>
                            <a:srgbClr val="0D9488"/>
                          </a:solidFill>
                          <a:latin typeface="Arial"/>
                        </a:rPr>
                        <a:t>Implemented</a:t>
                      </a:r>
                    </a:p>
                  </a:txBody>
                  <a:tcPr>
                    <a:solidFill>
                      <a:srgbClr val="F8FAFC"/>
                    </a:solidFill>
                  </a:tcPr>
                </a:tc>
                <a:tc>
                  <a:txBody>
                    <a:bodyPr/>
                    <a:lstStyle/>
                    <a:p>
                      <a:pPr algn="l"/>
                      <a:r>
                        <a:rPr sz="1050" dirty="0">
                          <a:solidFill>
                            <a:srgbClr val="0F172A"/>
                          </a:solidFill>
                          <a:latin typeface="Arial"/>
                        </a:rPr>
                        <a:t>Complementary interactive reports &amp; dashboards.</a:t>
                      </a:r>
                    </a:p>
                  </a:txBody>
                  <a:tcPr>
                    <a:solidFill>
                      <a:srgbClr val="F8FAF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1E293B"/>
                </a:solidFill>
                <a:effectLst/>
                <a:uLnTx/>
                <a:uFillTx/>
                <a:latin typeface="Georgia"/>
                <a:ea typeface="+mn-ea"/>
                <a:cs typeface="+mn-cs"/>
              </a:rPr>
              <a:t>Uniform 1,000-Row Job Dataset Houses Highly Consistent Description Text</a:t>
            </a:r>
          </a:p>
        </p:txBody>
      </p:sp>
      <p:sp>
        <p:nvSpPr>
          <p:cNvPr id="3" name="Rectangle 2"/>
          <p:cNvSpPr/>
          <p:nvPr/>
        </p:nvSpPr>
        <p:spPr>
          <a:xfrm>
            <a:off x="731520" y="1143000"/>
            <a:ext cx="10728655" cy="317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ounded Rectangle 3"/>
          <p:cNvSpPr/>
          <p:nvPr/>
        </p:nvSpPr>
        <p:spPr>
          <a:xfrm>
            <a:off x="731520" y="1645920"/>
            <a:ext cx="4572000" cy="123444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731520" y="1645920"/>
            <a:ext cx="76200" cy="1234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960120" y="1783080"/>
            <a:ext cx="4206240" cy="9601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a:pPr>
            <a:r>
              <a:rPr kumimoji="0" sz="1600" b="1" i="0" u="none" strike="noStrike" kern="1200" cap="none" spc="0" normalizeH="0" baseline="0" noProof="0">
                <a:ln>
                  <a:noFill/>
                </a:ln>
                <a:solidFill>
                  <a:srgbClr val="1E293B"/>
                </a:solidFill>
                <a:effectLst/>
                <a:uLnTx/>
                <a:uFillTx/>
                <a:latin typeface="Georgia"/>
                <a:ea typeface="+mn-ea"/>
                <a:cs typeface="+mn-cs"/>
              </a:rPr>
              <a:t>1,000 Total Postings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64748B"/>
                </a:solidFill>
                <a:effectLst/>
                <a:uLnTx/>
                <a:uFillTx/>
                <a:latin typeface="Calibri"/>
                <a:ea typeface="+mn-ea"/>
                <a:cs typeface="+mn-cs"/>
              </a:rPr>
              <a:t>Fully populated dataset with 0 missing records across all columns.</a:t>
            </a:r>
          </a:p>
        </p:txBody>
      </p:sp>
      <p:sp>
        <p:nvSpPr>
          <p:cNvPr id="7" name="Rounded Rectangle 6"/>
          <p:cNvSpPr/>
          <p:nvPr/>
        </p:nvSpPr>
        <p:spPr>
          <a:xfrm>
            <a:off x="731520" y="3108960"/>
            <a:ext cx="4572000" cy="123444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731520" y="3108960"/>
            <a:ext cx="7620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960120" y="3246120"/>
            <a:ext cx="4206240" cy="9601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a:pPr>
            <a:r>
              <a:rPr kumimoji="0" sz="1600" b="1" i="0" u="none" strike="noStrike" kern="1200" cap="none" spc="0" normalizeH="0" baseline="0" noProof="0" dirty="0">
                <a:ln>
                  <a:noFill/>
                </a:ln>
                <a:solidFill>
                  <a:srgbClr val="1E293B"/>
                </a:solidFill>
                <a:effectLst/>
                <a:uLnTx/>
                <a:uFillTx/>
                <a:latin typeface="Georgia"/>
                <a:ea typeface="+mn-ea"/>
                <a:cs typeface="+mn-cs"/>
              </a:rPr>
              <a:t>9 Unique Columns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64748B"/>
                </a:solidFill>
                <a:effectLst/>
                <a:uLnTx/>
                <a:uFillTx/>
                <a:latin typeface="Calibri"/>
                <a:ea typeface="+mn-ea"/>
                <a:cs typeface="+mn-cs"/>
              </a:rPr>
              <a:t>Mix of identifiers, text descriptions, and demographic filters.</a:t>
            </a:r>
          </a:p>
        </p:txBody>
      </p:sp>
      <p:sp>
        <p:nvSpPr>
          <p:cNvPr id="10" name="Rounded Rectangle 9"/>
          <p:cNvSpPr/>
          <p:nvPr/>
        </p:nvSpPr>
        <p:spPr>
          <a:xfrm>
            <a:off x="731520" y="4572000"/>
            <a:ext cx="4572000" cy="123444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731520" y="4572000"/>
            <a:ext cx="76200" cy="1234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960120" y="4709160"/>
            <a:ext cx="4206240" cy="9601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a:pPr>
            <a:r>
              <a:rPr kumimoji="0" sz="1600" b="1" i="0" u="none" strike="noStrike" kern="1200" cap="none" spc="0" normalizeH="0" baseline="0" noProof="0">
                <a:ln>
                  <a:noFill/>
                </a:ln>
                <a:solidFill>
                  <a:srgbClr val="1E293B"/>
                </a:solidFill>
                <a:effectLst/>
                <a:uLnTx/>
                <a:uFillTx/>
                <a:latin typeface="Georgia"/>
                <a:ea typeface="+mn-ea"/>
                <a:cs typeface="+mn-cs"/>
              </a:rPr>
              <a:t>~68 Words Average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64748B"/>
                </a:solidFill>
                <a:effectLst/>
                <a:uLnTx/>
                <a:uFillTx/>
                <a:latin typeface="Calibri"/>
                <a:ea typeface="+mn-ea"/>
                <a:cs typeface="+mn-cs"/>
              </a:rPr>
              <a:t>Uniform, tightly clustered description lengths simplify parsing.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1E293B"/>
                </a:solidFill>
                <a:effectLst/>
                <a:uLnTx/>
                <a:uFillTx/>
                <a:latin typeface="Georgia"/>
                <a:ea typeface="+mn-ea"/>
                <a:cs typeface="+mn-cs"/>
              </a:rPr>
              <a:t>Multi-Stage NLP Preprocessing Simplifies Text Complexity for Downstream Models</a:t>
            </a:r>
          </a:p>
        </p:txBody>
      </p:sp>
      <p:sp>
        <p:nvSpPr>
          <p:cNvPr id="3" name="Rectangle 2"/>
          <p:cNvSpPr/>
          <p:nvPr/>
        </p:nvSpPr>
        <p:spPr>
          <a:xfrm>
            <a:off x="731520" y="1143000"/>
            <a:ext cx="10728655" cy="317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ounded Rectangle 3"/>
          <p:cNvSpPr/>
          <p:nvPr/>
        </p:nvSpPr>
        <p:spPr>
          <a:xfrm>
            <a:off x="731520" y="1645920"/>
            <a:ext cx="2468880" cy="402336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731520" y="1645920"/>
            <a:ext cx="2468880" cy="635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868680" y="1920240"/>
            <a:ext cx="2194560" cy="3657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1100" b="1" i="0" u="none" strike="noStrike" kern="1200" cap="none" spc="0" normalizeH="0" baseline="0" noProof="0">
                <a:ln>
                  <a:noFill/>
                </a:ln>
                <a:solidFill>
                  <a:srgbClr val="0D9488"/>
                </a:solidFill>
                <a:effectLst/>
                <a:uLnTx/>
                <a:uFillTx/>
                <a:latin typeface="Calibri"/>
                <a:ea typeface="+mn-ea"/>
                <a:cs typeface="+mn-cs"/>
              </a:rPr>
              <a:t>Step 01</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500" b="1" i="0" u="none" strike="noStrike" kern="1200" cap="none" spc="0" normalizeH="0" baseline="0" noProof="0">
                <a:ln>
                  <a:noFill/>
                </a:ln>
                <a:solidFill>
                  <a:srgbClr val="1E293B"/>
                </a:solidFill>
                <a:effectLst/>
                <a:uLnTx/>
                <a:uFillTx/>
                <a:latin typeface="Georgia"/>
                <a:ea typeface="+mn-ea"/>
                <a:cs typeface="+mn-cs"/>
              </a:rPr>
              <a:t>Text Normalization</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100" b="1" i="0" u="none" strike="noStrike" kern="1200" cap="none" spc="0" normalizeH="0" baseline="0" noProof="0">
                <a:ln>
                  <a:noFill/>
                </a:ln>
                <a:solidFill>
                  <a:srgbClr val="64748B"/>
                </a:solidFill>
                <a:effectLst/>
                <a:uLnTx/>
                <a:uFillTx/>
                <a:latin typeface="Calibri"/>
                <a:ea typeface="+mn-ea"/>
                <a:cs typeface="+mn-cs"/>
              </a:rPr>
              <a:t>Case Standardization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B"/>
                </a:solidFill>
                <a:effectLst/>
                <a:uLnTx/>
                <a:uFillTx/>
                <a:latin typeface="Calibri"/>
                <a:ea typeface="+mn-ea"/>
                <a:cs typeface="+mn-cs"/>
              </a:rPr>
              <a:t>Standardizes capitalization variations across the corpus. Converts inputs like 'Python', 'python', and 'PYTHON' to a lowercase form for uniform vocabulary lookups.</a:t>
            </a:r>
          </a:p>
        </p:txBody>
      </p:sp>
      <p:sp>
        <p:nvSpPr>
          <p:cNvPr id="7" name="Rounded Rectangle 6"/>
          <p:cNvSpPr/>
          <p:nvPr/>
        </p:nvSpPr>
        <p:spPr>
          <a:xfrm>
            <a:off x="3383280" y="1645920"/>
            <a:ext cx="2468880" cy="402336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3383280" y="1645920"/>
            <a:ext cx="2468880" cy="6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3520440" y="1920240"/>
            <a:ext cx="2194560" cy="3657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1100" b="1" i="0" u="none" strike="noStrike" kern="1200" cap="none" spc="0" normalizeH="0" baseline="0" noProof="0">
                <a:ln>
                  <a:noFill/>
                </a:ln>
                <a:solidFill>
                  <a:srgbClr val="1E293B"/>
                </a:solidFill>
                <a:effectLst/>
                <a:uLnTx/>
                <a:uFillTx/>
                <a:latin typeface="Calibri"/>
                <a:ea typeface="+mn-ea"/>
                <a:cs typeface="+mn-cs"/>
              </a:rPr>
              <a:t>Step 02</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500" b="1" i="0" u="none" strike="noStrike" kern="1200" cap="none" spc="0" normalizeH="0" baseline="0" noProof="0">
                <a:ln>
                  <a:noFill/>
                </a:ln>
                <a:solidFill>
                  <a:srgbClr val="1E293B"/>
                </a:solidFill>
                <a:effectLst/>
                <a:uLnTx/>
                <a:uFillTx/>
                <a:latin typeface="Georgia"/>
                <a:ea typeface="+mn-ea"/>
                <a:cs typeface="+mn-cs"/>
              </a:rPr>
              <a:t>Tokenization</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100" b="1" i="0" u="none" strike="noStrike" kern="1200" cap="none" spc="0" normalizeH="0" baseline="0" noProof="0">
                <a:ln>
                  <a:noFill/>
                </a:ln>
                <a:solidFill>
                  <a:srgbClr val="64748B"/>
                </a:solidFill>
                <a:effectLst/>
                <a:uLnTx/>
                <a:uFillTx/>
                <a:latin typeface="Calibri"/>
                <a:ea typeface="+mn-ea"/>
                <a:cs typeface="+mn-cs"/>
              </a:rPr>
              <a:t>Dividing Sentence Blocks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B"/>
                </a:solidFill>
                <a:effectLst/>
                <a:uLnTx/>
                <a:uFillTx/>
                <a:latin typeface="Calibri"/>
                <a:ea typeface="+mn-ea"/>
                <a:cs typeface="+mn-cs"/>
              </a:rPr>
              <a:t>Splits long, continuous character strings into smaller, manageable token units (words). Converts 'Python data analysis' -&gt; ['Python', 'data', 'analysis'].</a:t>
            </a:r>
          </a:p>
        </p:txBody>
      </p:sp>
      <p:sp>
        <p:nvSpPr>
          <p:cNvPr id="10" name="Rounded Rectangle 9"/>
          <p:cNvSpPr/>
          <p:nvPr/>
        </p:nvSpPr>
        <p:spPr>
          <a:xfrm>
            <a:off x="6035040" y="1645920"/>
            <a:ext cx="2468880" cy="402336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6035040" y="1645920"/>
            <a:ext cx="2468880" cy="635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6172200" y="1920240"/>
            <a:ext cx="2194560" cy="3657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1100" b="1" i="0" u="none" strike="noStrike" kern="1200" cap="none" spc="0" normalizeH="0" baseline="0" noProof="0">
                <a:ln>
                  <a:noFill/>
                </a:ln>
                <a:solidFill>
                  <a:srgbClr val="0D9488"/>
                </a:solidFill>
                <a:effectLst/>
                <a:uLnTx/>
                <a:uFillTx/>
                <a:latin typeface="Calibri"/>
                <a:ea typeface="+mn-ea"/>
                <a:cs typeface="+mn-cs"/>
              </a:rPr>
              <a:t>Step 03</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500" b="1" i="0" u="none" strike="noStrike" kern="1200" cap="none" spc="0" normalizeH="0" baseline="0" noProof="0">
                <a:ln>
                  <a:noFill/>
                </a:ln>
                <a:solidFill>
                  <a:srgbClr val="1E293B"/>
                </a:solidFill>
                <a:effectLst/>
                <a:uLnTx/>
                <a:uFillTx/>
                <a:latin typeface="Georgia"/>
                <a:ea typeface="+mn-ea"/>
                <a:cs typeface="+mn-cs"/>
              </a:rPr>
              <a:t>Stopword Removal</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100" b="1" i="0" u="none" strike="noStrike" kern="1200" cap="none" spc="0" normalizeH="0" baseline="0" noProof="0">
                <a:ln>
                  <a:noFill/>
                </a:ln>
                <a:solidFill>
                  <a:srgbClr val="64748B"/>
                </a:solidFill>
                <a:effectLst/>
                <a:uLnTx/>
                <a:uFillTx/>
                <a:latin typeface="Calibri"/>
                <a:ea typeface="+mn-ea"/>
                <a:cs typeface="+mn-cs"/>
              </a:rPr>
              <a:t>Stripping Filler Words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B"/>
                </a:solidFill>
                <a:effectLst/>
                <a:uLnTx/>
                <a:uFillTx/>
                <a:latin typeface="Calibri"/>
                <a:ea typeface="+mn-ea"/>
                <a:cs typeface="+mn-cs"/>
              </a:rPr>
              <a:t>Excludes common, highly frequent English grammatical particles (e.g., 'the', 'is', 'an', 'and', 'of') to minimize corpus noise and emphasize technical nouns.</a:t>
            </a:r>
          </a:p>
        </p:txBody>
      </p:sp>
      <p:sp>
        <p:nvSpPr>
          <p:cNvPr id="13" name="Rounded Rectangle 12"/>
          <p:cNvSpPr/>
          <p:nvPr/>
        </p:nvSpPr>
        <p:spPr>
          <a:xfrm>
            <a:off x="8686800" y="1645920"/>
            <a:ext cx="2468880" cy="4023360"/>
          </a:xfrm>
          <a:prstGeom prst="roundRect">
            <a:avLst/>
          </a:prstGeom>
          <a:solidFill>
            <a:srgbClr val="FFFFFF"/>
          </a:solidFill>
          <a:ln>
            <a:noFill/>
          </a:ln>
          <a:effectLst>
            <a:outerShdw blurRad="20000" dist="8000" dir="540000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8686800" y="1645920"/>
            <a:ext cx="2468880" cy="635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8823960" y="1920240"/>
            <a:ext cx="2194560" cy="3657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1100" b="1" i="0" u="none" strike="noStrike" kern="1200" cap="none" spc="0" normalizeH="0" baseline="0" noProof="0">
                <a:ln>
                  <a:noFill/>
                </a:ln>
                <a:solidFill>
                  <a:srgbClr val="D97706"/>
                </a:solidFill>
                <a:effectLst/>
                <a:uLnTx/>
                <a:uFillTx/>
                <a:latin typeface="Calibri"/>
                <a:ea typeface="+mn-ea"/>
                <a:cs typeface="+mn-cs"/>
              </a:rPr>
              <a:t>Step 04</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1500" b="1" i="0" u="none" strike="noStrike" kern="1200" cap="none" spc="0" normalizeH="0" baseline="0" noProof="0">
                <a:ln>
                  <a:noFill/>
                </a:ln>
                <a:solidFill>
                  <a:srgbClr val="1E293B"/>
                </a:solidFill>
                <a:effectLst/>
                <a:uLnTx/>
                <a:uFillTx/>
                <a:latin typeface="Georgia"/>
                <a:ea typeface="+mn-ea"/>
                <a:cs typeface="+mn-cs"/>
              </a:rPr>
              <a:t>Lemmatization</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1100" b="1" i="0" u="none" strike="noStrike" kern="1200" cap="none" spc="0" normalizeH="0" baseline="0" noProof="0">
                <a:ln>
                  <a:noFill/>
                </a:ln>
                <a:solidFill>
                  <a:srgbClr val="64748B"/>
                </a:solidFill>
                <a:effectLst/>
                <a:uLnTx/>
                <a:uFillTx/>
                <a:latin typeface="Calibri"/>
                <a:ea typeface="+mn-ea"/>
                <a:cs typeface="+mn-cs"/>
              </a:rPr>
              <a:t>Mapping Semantic Bases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E293B"/>
                </a:solidFill>
                <a:effectLst/>
                <a:uLnTx/>
                <a:uFillTx/>
                <a:latin typeface="Calibri"/>
                <a:ea typeface="+mn-ea"/>
                <a:cs typeface="+mn-cs"/>
              </a:rPr>
              <a:t>Uses spaCy linguistic rules to convert inflected words into their true base dictionary form (e.g., 'running' -&gt; 'run', 'studies' -&gt; 'study', 'better' -&gt; 'good') to merge variations.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Pipeline progresses from simple heuristics to semantic models</a:t>
            </a:r>
          </a:p>
          <a:p>
            <a:pPr>
              <a:defRPr sz="1200" i="1">
                <a:solidFill>
                  <a:srgbClr val="0D9488"/>
                </a:solidFill>
                <a:latin typeface="Arial"/>
              </a:defRPr>
            </a:pPr>
            <a:r>
              <a:t>System Architecture &amp; End-to-End Workflow</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691640"/>
            <a:ext cx="201168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Stage 1</a:t>
            </a:r>
          </a:p>
        </p:txBody>
      </p:sp>
      <p:sp>
        <p:nvSpPr>
          <p:cNvPr id="5" name="Rounded Rectangle 4"/>
          <p:cNvSpPr/>
          <p:nvPr/>
        </p:nvSpPr>
        <p:spPr>
          <a:xfrm>
            <a:off x="548640" y="2240280"/>
            <a:ext cx="201168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tIns="137160" rtlCol="0" anchor="ctr"/>
          <a:lstStyle/>
          <a:p>
            <a:pPr algn="ctr">
              <a:spcAft>
                <a:spcPts val="800"/>
              </a:spcAft>
              <a:defRPr sz="1400" b="1">
                <a:solidFill>
                  <a:srgbClr val="1E3A8A"/>
                </a:solidFill>
                <a:latin typeface="Georgia"/>
              </a:defRPr>
            </a:pPr>
            <a:r>
              <a:t>Data Cleaning</a:t>
            </a:r>
          </a:p>
          <a:p>
            <a:pPr algn="l">
              <a:defRPr sz="1050">
                <a:solidFill>
                  <a:srgbClr val="64748B"/>
                </a:solidFill>
                <a:latin typeface="Arial"/>
              </a:defRPr>
            </a:pPr>
            <a:r>
              <a:t>JobDescriptionCleaner</a:t>
            </a:r>
            <a:br/>
            <a:br/>
            <a:r>
              <a:t>• Remove HTML tags via BeautifulSoup</a:t>
            </a:r>
            <a:br/>
            <a:r>
              <a:t>• Remove URLs, email strings, phone numbers</a:t>
            </a:r>
            <a:br/>
            <a:r>
              <a:t>• Whitespace compression</a:t>
            </a:r>
          </a:p>
        </p:txBody>
      </p:sp>
      <p:sp>
        <p:nvSpPr>
          <p:cNvPr id="6" name="Right Arrow 5"/>
          <p:cNvSpPr/>
          <p:nvPr/>
        </p:nvSpPr>
        <p:spPr>
          <a:xfrm>
            <a:off x="2578608" y="3063240"/>
            <a:ext cx="146304" cy="274320"/>
          </a:xfrm>
          <a:prstGeom prst="rightArrow">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0" y="1691640"/>
            <a:ext cx="201168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Stage 2</a:t>
            </a:r>
          </a:p>
        </p:txBody>
      </p:sp>
      <p:sp>
        <p:nvSpPr>
          <p:cNvPr id="8" name="Rounded Rectangle 7"/>
          <p:cNvSpPr/>
          <p:nvPr/>
        </p:nvSpPr>
        <p:spPr>
          <a:xfrm>
            <a:off x="2743200" y="2240280"/>
            <a:ext cx="201168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tIns="137160" rtlCol="0" anchor="ctr"/>
          <a:lstStyle/>
          <a:p>
            <a:pPr algn="ctr">
              <a:spcAft>
                <a:spcPts val="800"/>
              </a:spcAft>
              <a:defRPr sz="1400" b="1">
                <a:solidFill>
                  <a:srgbClr val="1E3A8A"/>
                </a:solidFill>
                <a:latin typeface="Georgia"/>
              </a:defRPr>
            </a:pPr>
            <a:r>
              <a:t>Taxonomy &amp; Rules</a:t>
            </a:r>
          </a:p>
          <a:p>
            <a:pPr algn="l">
              <a:defRPr sz="1050">
                <a:solidFill>
                  <a:srgbClr val="64748B"/>
                </a:solidFill>
                <a:latin typeface="Arial"/>
              </a:defRPr>
            </a:pPr>
            <a:r>
              <a:t>Dictionary / Regex</a:t>
            </a:r>
            <a:br/>
            <a:br/>
            <a:r>
              <a:t>• Build 110-skill taxonomy</a:t>
            </a:r>
            <a:br/>
            <a:r>
              <a:t>• Categorize &amp; map aliases</a:t>
            </a:r>
            <a:br/>
            <a:r>
              <a:t>• Apply word boundary patterns</a:t>
            </a:r>
          </a:p>
        </p:txBody>
      </p:sp>
      <p:sp>
        <p:nvSpPr>
          <p:cNvPr id="9" name="Right Arrow 8"/>
          <p:cNvSpPr/>
          <p:nvPr/>
        </p:nvSpPr>
        <p:spPr>
          <a:xfrm>
            <a:off x="4773168" y="3063240"/>
            <a:ext cx="146304" cy="274320"/>
          </a:xfrm>
          <a:prstGeom prst="rightArrow">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937760" y="1691640"/>
            <a:ext cx="201168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Stage 3</a:t>
            </a:r>
          </a:p>
        </p:txBody>
      </p:sp>
      <p:sp>
        <p:nvSpPr>
          <p:cNvPr id="11" name="Rounded Rectangle 10"/>
          <p:cNvSpPr/>
          <p:nvPr/>
        </p:nvSpPr>
        <p:spPr>
          <a:xfrm>
            <a:off x="4937760" y="2240280"/>
            <a:ext cx="201168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tIns="137160" rtlCol="0" anchor="ctr"/>
          <a:lstStyle/>
          <a:p>
            <a:pPr algn="ctr">
              <a:spcAft>
                <a:spcPts val="800"/>
              </a:spcAft>
              <a:defRPr sz="1400" b="1">
                <a:solidFill>
                  <a:srgbClr val="1E3A8A"/>
                </a:solidFill>
                <a:latin typeface="Georgia"/>
              </a:defRPr>
            </a:pPr>
            <a:r>
              <a:t>Statistical NLP</a:t>
            </a:r>
          </a:p>
          <a:p>
            <a:pPr algn="l">
              <a:defRPr sz="1050">
                <a:solidFill>
                  <a:srgbClr val="64748B"/>
                </a:solidFill>
                <a:latin typeface="Arial"/>
              </a:defRPr>
            </a:pPr>
            <a:r>
              <a:t>N-Grams &amp; LSA</a:t>
            </a:r>
            <a:br/>
            <a:br/>
            <a:r>
              <a:t>• Extract important terms</a:t>
            </a:r>
            <a:br/>
            <a:r>
              <a:t>• Phrase discovery (bigrams/trigrams)</a:t>
            </a:r>
            <a:br/>
            <a:r>
              <a:t>• Corpus LSA dimension reduction</a:t>
            </a:r>
          </a:p>
        </p:txBody>
      </p:sp>
      <p:sp>
        <p:nvSpPr>
          <p:cNvPr id="12" name="Right Arrow 11"/>
          <p:cNvSpPr/>
          <p:nvPr/>
        </p:nvSpPr>
        <p:spPr>
          <a:xfrm>
            <a:off x="6967728" y="3063240"/>
            <a:ext cx="146304" cy="274320"/>
          </a:xfrm>
          <a:prstGeom prst="rightArrow">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132320" y="1691640"/>
            <a:ext cx="201168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Stage 4</a:t>
            </a:r>
          </a:p>
        </p:txBody>
      </p:sp>
      <p:sp>
        <p:nvSpPr>
          <p:cNvPr id="14" name="Rounded Rectangle 13"/>
          <p:cNvSpPr/>
          <p:nvPr/>
        </p:nvSpPr>
        <p:spPr>
          <a:xfrm>
            <a:off x="7132320" y="2240280"/>
            <a:ext cx="201168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tIns="137160" rtlCol="0" anchor="ctr"/>
          <a:lstStyle/>
          <a:p>
            <a:pPr algn="ctr">
              <a:spcAft>
                <a:spcPts val="800"/>
              </a:spcAft>
              <a:defRPr sz="1400" b="1">
                <a:solidFill>
                  <a:srgbClr val="1E3A8A"/>
                </a:solidFill>
                <a:latin typeface="Georgia"/>
              </a:defRPr>
            </a:pPr>
            <a:r>
              <a:t>Machine Learning</a:t>
            </a:r>
          </a:p>
          <a:p>
            <a:pPr algn="l">
              <a:defRPr sz="1050">
                <a:solidFill>
                  <a:srgbClr val="64748B"/>
                </a:solidFill>
                <a:latin typeface="Arial"/>
              </a:defRPr>
            </a:pPr>
            <a:r>
              <a:t>NER &amp; Classifiers</a:t>
            </a:r>
            <a:br/>
            <a:br/>
            <a:r>
              <a:t>• Custom spaCy EntityRuler</a:t>
            </a:r>
            <a:br/>
            <a:r>
              <a:t>• Character N-gram TF-IDF Logistic Regression</a:t>
            </a:r>
            <a:br/>
            <a:r>
              <a:t>• BERT Benchmark</a:t>
            </a:r>
          </a:p>
        </p:txBody>
      </p:sp>
      <p:sp>
        <p:nvSpPr>
          <p:cNvPr id="15" name="Right Arrow 14"/>
          <p:cNvSpPr/>
          <p:nvPr/>
        </p:nvSpPr>
        <p:spPr>
          <a:xfrm>
            <a:off x="9162288" y="3063240"/>
            <a:ext cx="146304" cy="274320"/>
          </a:xfrm>
          <a:prstGeom prst="rightArrow">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326880" y="1691640"/>
            <a:ext cx="201168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Stage 5</a:t>
            </a:r>
          </a:p>
        </p:txBody>
      </p:sp>
      <p:sp>
        <p:nvSpPr>
          <p:cNvPr id="17" name="Rounded Rectangle 16"/>
          <p:cNvSpPr/>
          <p:nvPr/>
        </p:nvSpPr>
        <p:spPr>
          <a:xfrm>
            <a:off x="9326880" y="2240280"/>
            <a:ext cx="201168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tIns="137160" rtlCol="0" anchor="ctr"/>
          <a:lstStyle/>
          <a:p>
            <a:pPr algn="ctr">
              <a:spcAft>
                <a:spcPts val="800"/>
              </a:spcAft>
              <a:defRPr sz="1400" b="1">
                <a:solidFill>
                  <a:srgbClr val="1E3A8A"/>
                </a:solidFill>
                <a:latin typeface="Georgia"/>
              </a:defRPr>
            </a:pPr>
            <a:r>
              <a:t>UI &amp; Analytics</a:t>
            </a:r>
          </a:p>
          <a:p>
            <a:pPr algn="l">
              <a:defRPr sz="1050">
                <a:solidFill>
                  <a:srgbClr val="64748B"/>
                </a:solidFill>
                <a:latin typeface="Arial"/>
              </a:defRPr>
            </a:pPr>
            <a:r>
              <a:t>Streamlit Dashboard</a:t>
            </a:r>
            <a:br/>
            <a:br/>
            <a:r>
              <a:t>• Interactive extraction</a:t>
            </a:r>
            <a:br/>
            <a:r>
              <a:t>• Visual skill chips</a:t>
            </a:r>
            <a:br/>
            <a:r>
              <a:t>• Historical trends and CSV exports</a:t>
            </a:r>
          </a:p>
        </p:txBody>
      </p:sp>
      <p:sp>
        <p:nvSpPr>
          <p:cNvPr id="18" name="TextBox 17"/>
          <p:cNvSpPr txBox="1"/>
          <p:nvPr/>
        </p:nvSpPr>
        <p:spPr>
          <a:xfrm>
            <a:off x="548640" y="5303520"/>
            <a:ext cx="11094415" cy="731520"/>
          </a:xfrm>
          <a:prstGeom prst="rect">
            <a:avLst/>
          </a:prstGeom>
          <a:noFill/>
        </p:spPr>
        <p:txBody>
          <a:bodyPr wrap="square">
            <a:spAutoFit/>
          </a:bodyPr>
          <a:lstStyle/>
          <a:p>
            <a:pPr>
              <a:defRPr sz="1200" b="1">
                <a:solidFill>
                  <a:srgbClr val="1E3A8A"/>
                </a:solidFill>
                <a:latin typeface="Arial"/>
              </a:defRPr>
            </a:pPr>
            <a:r>
              <a:t>Key Highlight: The pipeline progresses systematically from basic heuristics (rule-based regular expression patterns) to statistical machine learning (Logistic Regression term categorization) and context-aware transformer evaluation (BERT).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Cleaned dataset contains highly role-concentrated postings</a:t>
            </a:r>
          </a:p>
          <a:p>
            <a:pPr>
              <a:defRPr sz="1200" i="1">
                <a:solidFill>
                  <a:srgbClr val="0D9488"/>
                </a:solidFill>
                <a:latin typeface="Arial"/>
              </a:defRPr>
            </a:pPr>
            <a:r>
              <a:t>Dataset Collection, Quality Findings &amp; EDA Profile</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554480"/>
            <a:ext cx="4572000" cy="4572000"/>
          </a:xfrm>
          <a:prstGeom prst="rect">
            <a:avLst/>
          </a:prstGeom>
          <a:noFill/>
        </p:spPr>
        <p:txBody>
          <a:bodyPr wrap="square">
            <a:spAutoFit/>
          </a:bodyPr>
          <a:lstStyle/>
          <a:p>
            <a:pPr>
              <a:spcAft>
                <a:spcPts val="1200"/>
              </a:spcAft>
              <a:defRPr sz="1800" b="1">
                <a:solidFill>
                  <a:srgbClr val="1E3A8A"/>
                </a:solidFill>
                <a:latin typeface="Georgia"/>
              </a:defRPr>
            </a:pPr>
            <a:r>
              <a:t>Dataset Profile &amp; Discoveries</a:t>
            </a:r>
          </a:p>
          <a:p>
            <a:pPr>
              <a:spcBef>
                <a:spcPts val="300"/>
              </a:spcBef>
              <a:spcAft>
                <a:spcPts val="700"/>
              </a:spcAft>
            </a:pPr>
            <a:r>
              <a:rPr sz="1350">
                <a:solidFill>
                  <a:srgbClr val="0D9488"/>
                </a:solidFill>
                <a:latin typeface="Arial"/>
              </a:rPr>
              <a:t>▪ </a:t>
            </a:r>
            <a:r>
              <a:rPr sz="1350" b="1">
                <a:solidFill>
                  <a:srgbClr val="0F172A"/>
                </a:solidFill>
                <a:latin typeface="Arial"/>
              </a:rPr>
              <a:t>Dual Dataset Versions: </a:t>
            </a:r>
            <a:r>
              <a:rPr sz="1350">
                <a:solidFill>
                  <a:srgbClr val="64748B"/>
                </a:solidFill>
                <a:latin typeface="Arial"/>
              </a:rPr>
              <a:t>Analysis covers an initial 1,000-record dataset for early EDA, and a 910-record corpus post-cleaning (missing descriptions dropped).</a:t>
            </a:r>
          </a:p>
          <a:p>
            <a:pPr>
              <a:spcBef>
                <a:spcPts val="300"/>
              </a:spcBef>
              <a:spcAft>
                <a:spcPts val="700"/>
              </a:spcAft>
            </a:pPr>
            <a:r>
              <a:rPr sz="1350">
                <a:solidFill>
                  <a:srgbClr val="0D9488"/>
                </a:solidFill>
                <a:latin typeface="Arial"/>
              </a:rPr>
              <a:t>▪ </a:t>
            </a:r>
            <a:r>
              <a:rPr sz="1350" b="1">
                <a:solidFill>
                  <a:srgbClr val="0F172A"/>
                </a:solidFill>
                <a:latin typeface="Arial"/>
              </a:rPr>
              <a:t>High Text Quality: </a:t>
            </a:r>
            <a:r>
              <a:rPr sz="1350">
                <a:solidFill>
                  <a:srgbClr val="64748B"/>
                </a:solidFill>
                <a:latin typeface="Arial"/>
              </a:rPr>
              <a:t>No missing values or duplicate records were present in the initial check. The average description length was 500.7 characters (approx. 67.6 words), representing a highly clustered distribution.</a:t>
            </a:r>
          </a:p>
          <a:p>
            <a:pPr>
              <a:spcBef>
                <a:spcPts val="300"/>
              </a:spcBef>
              <a:spcAft>
                <a:spcPts val="700"/>
              </a:spcAft>
            </a:pPr>
            <a:r>
              <a:rPr sz="1350">
                <a:solidFill>
                  <a:srgbClr val="0D9488"/>
                </a:solidFill>
                <a:latin typeface="Arial"/>
              </a:rPr>
              <a:t>▪ </a:t>
            </a:r>
            <a:r>
              <a:rPr sz="1350" b="1">
                <a:solidFill>
                  <a:srgbClr val="0F172A"/>
                </a:solidFill>
                <a:latin typeface="Arial"/>
              </a:rPr>
              <a:t>Geographic Diversity: </a:t>
            </a:r>
            <a:r>
              <a:rPr sz="1350">
                <a:solidFill>
                  <a:srgbClr val="64748B"/>
                </a:solidFill>
                <a:latin typeface="Arial"/>
              </a:rPr>
              <a:t>The data spans 22 unique locations across several countries, with Hyderabad, India as the top region (67 postings) and 'Remote' as the #3 category (52 postings).</a:t>
            </a:r>
          </a:p>
          <a:p>
            <a:pPr>
              <a:spcBef>
                <a:spcPts val="300"/>
              </a:spcBef>
              <a:spcAft>
                <a:spcPts val="700"/>
              </a:spcAft>
            </a:pPr>
            <a:r>
              <a:rPr sz="1350">
                <a:solidFill>
                  <a:srgbClr val="0D9488"/>
                </a:solidFill>
                <a:latin typeface="Arial"/>
              </a:rPr>
              <a:t>▪ </a:t>
            </a:r>
            <a:r>
              <a:rPr sz="1350" b="1">
                <a:solidFill>
                  <a:srgbClr val="0F172A"/>
                </a:solidFill>
                <a:latin typeface="Arial"/>
              </a:rPr>
              <a:t>Job Title Concentration: </a:t>
            </a:r>
            <a:r>
              <a:rPr sz="1350">
                <a:solidFill>
                  <a:srgbClr val="64748B"/>
                </a:solidFill>
                <a:latin typeface="Arial"/>
              </a:rPr>
              <a:t>12 unique job roles exist in the dataset, which provides robust sample sizes per title for comparative analysis.</a:t>
            </a:r>
          </a:p>
        </p:txBody>
      </p:sp>
      <p:pic>
        <p:nvPicPr>
          <p:cNvPr id="5" name="Picture 4" descr="job_titles.png"/>
          <p:cNvPicPr>
            <a:picLocks noChangeAspect="1"/>
          </p:cNvPicPr>
          <p:nvPr/>
        </p:nvPicPr>
        <p:blipFill>
          <a:blip r:embed="rId3"/>
          <a:stretch>
            <a:fillRect/>
          </a:stretch>
        </p:blipFill>
        <p:spPr>
          <a:xfrm>
            <a:off x="5303520" y="1554480"/>
            <a:ext cx="6400800" cy="411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Boundary-aware regex and alias mapping prevent matching errors</a:t>
            </a:r>
          </a:p>
          <a:p>
            <a:pPr>
              <a:defRPr sz="1200" i="1">
                <a:solidFill>
                  <a:srgbClr val="0D9488"/>
                </a:solidFill>
                <a:latin typeface="Arial"/>
              </a:defRPr>
            </a:pPr>
            <a:r>
              <a:t>Day 8 Regex + Normalization vs. Day 7 Exact Matching</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554480"/>
            <a:ext cx="5486400" cy="4572000"/>
          </a:xfrm>
          <a:prstGeom prst="rect">
            <a:avLst/>
          </a:prstGeom>
          <a:noFill/>
        </p:spPr>
        <p:txBody>
          <a:bodyPr wrap="square">
            <a:spAutoFit/>
          </a:bodyPr>
          <a:lstStyle/>
          <a:p>
            <a:pPr>
              <a:spcAft>
                <a:spcPts val="1200"/>
              </a:spcAft>
              <a:defRPr sz="1800" b="1">
                <a:solidFill>
                  <a:srgbClr val="1E3A8A"/>
                </a:solidFill>
                <a:latin typeface="Georgia"/>
              </a:defRPr>
            </a:pPr>
            <a:r>
              <a:t>Taxonomy &amp; Regex Mechanics</a:t>
            </a:r>
          </a:p>
          <a:p>
            <a:pPr>
              <a:spcBef>
                <a:spcPts val="300"/>
              </a:spcBef>
              <a:spcAft>
                <a:spcPts val="700"/>
              </a:spcAft>
            </a:pPr>
            <a:r>
              <a:rPr sz="1350">
                <a:solidFill>
                  <a:srgbClr val="0D9488"/>
                </a:solidFill>
                <a:latin typeface="Arial"/>
              </a:rPr>
              <a:t>▪ </a:t>
            </a:r>
            <a:r>
              <a:rPr sz="1350" b="1">
                <a:solidFill>
                  <a:srgbClr val="0F172A"/>
                </a:solidFill>
                <a:latin typeface="Arial"/>
              </a:rPr>
              <a:t>110-Skill Taxonomy: </a:t>
            </a:r>
            <a:r>
              <a:rPr sz="1350">
                <a:solidFill>
                  <a:srgbClr val="64748B"/>
                </a:solidFill>
                <a:latin typeface="Arial"/>
              </a:rPr>
              <a:t>Constructed with canonical names, category fields, and aliases (e.g. mapping py, python3, and python 3 -&gt; Python).</a:t>
            </a:r>
          </a:p>
          <a:p>
            <a:pPr>
              <a:spcBef>
                <a:spcPts val="300"/>
              </a:spcBef>
              <a:spcAft>
                <a:spcPts val="700"/>
              </a:spcAft>
            </a:pPr>
            <a:r>
              <a:rPr sz="1350">
                <a:solidFill>
                  <a:srgbClr val="0D9488"/>
                </a:solidFill>
                <a:latin typeface="Arial"/>
              </a:rPr>
              <a:t>▪ </a:t>
            </a:r>
            <a:r>
              <a:rPr sz="1350" b="1">
                <a:solidFill>
                  <a:srgbClr val="0F172A"/>
                </a:solidFill>
                <a:latin typeface="Arial"/>
              </a:rPr>
              <a:t>Overlapping Phrase Preference: </a:t>
            </a:r>
            <a:r>
              <a:rPr sz="1350">
                <a:solidFill>
                  <a:srgbClr val="64748B"/>
                </a:solidFill>
                <a:latin typeface="Arial"/>
              </a:rPr>
              <a:t>The algorithm scans longer names first (e.g. preferring C++ over C, and Linear Regression over Regression) to avoid partial matches.</a:t>
            </a:r>
          </a:p>
          <a:p>
            <a:pPr>
              <a:spcBef>
                <a:spcPts val="300"/>
              </a:spcBef>
              <a:spcAft>
                <a:spcPts val="700"/>
              </a:spcAft>
            </a:pPr>
            <a:r>
              <a:rPr sz="1350">
                <a:solidFill>
                  <a:srgbClr val="0D9488"/>
                </a:solidFill>
                <a:latin typeface="Arial"/>
              </a:rPr>
              <a:t>▪ </a:t>
            </a:r>
            <a:r>
              <a:rPr sz="1350" b="1">
                <a:solidFill>
                  <a:srgbClr val="0F172A"/>
                </a:solidFill>
                <a:latin typeface="Arial"/>
              </a:rPr>
              <a:t>Word Boundary Isolation: </a:t>
            </a:r>
            <a:r>
              <a:rPr sz="1350">
                <a:solidFill>
                  <a:srgbClr val="64748B"/>
                </a:solidFill>
                <a:latin typeface="Arial"/>
              </a:rPr>
              <a:t>Regular expression checks (using `\b` patterns) ensure Python doesn't trigger false positives and prevents single-letter skills like 'R' from matching inside standard words.</a:t>
            </a:r>
          </a:p>
        </p:txBody>
      </p:sp>
      <p:sp>
        <p:nvSpPr>
          <p:cNvPr id="5" name="TextBox 4"/>
          <p:cNvSpPr txBox="1"/>
          <p:nvPr/>
        </p:nvSpPr>
        <p:spPr>
          <a:xfrm>
            <a:off x="6400800" y="1554480"/>
            <a:ext cx="5212080" cy="4572000"/>
          </a:xfrm>
          <a:prstGeom prst="rect">
            <a:avLst/>
          </a:prstGeom>
          <a:noFill/>
        </p:spPr>
        <p:txBody>
          <a:bodyPr wrap="square">
            <a:spAutoFit/>
          </a:bodyPr>
          <a:lstStyle/>
          <a:p>
            <a:pPr>
              <a:spcAft>
                <a:spcPts val="800"/>
              </a:spcAft>
              <a:defRPr sz="1600" b="1">
                <a:solidFill>
                  <a:srgbClr val="1E3A8A"/>
                </a:solidFill>
                <a:latin typeface="Georgia"/>
              </a:defRPr>
            </a:pPr>
            <a:r>
              <a:t>The Impact of Normalization Rules</a:t>
            </a:r>
          </a:p>
        </p:txBody>
      </p:sp>
      <p:graphicFrame>
        <p:nvGraphicFramePr>
          <p:cNvPr id="6" name="Table 5"/>
          <p:cNvGraphicFramePr>
            <a:graphicFrameLocks noGrp="1"/>
          </p:cNvGraphicFramePr>
          <p:nvPr/>
        </p:nvGraphicFramePr>
        <p:xfrm>
          <a:off x="6400800" y="2011680"/>
          <a:ext cx="5212080" cy="13716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57200">
                <a:tc>
                  <a:txBody>
                    <a:bodyPr/>
                    <a:lstStyle/>
                    <a:p>
                      <a:pPr algn="ctr"/>
                      <a:r>
                        <a:rPr sz="1000" b="1">
                          <a:solidFill>
                            <a:srgbClr val="FFFFFF"/>
                          </a:solidFill>
                          <a:latin typeface="Arial"/>
                        </a:rPr>
                        <a:t>Canonical Skill</a:t>
                      </a:r>
                    </a:p>
                  </a:txBody>
                  <a:tcPr>
                    <a:solidFill>
                      <a:srgbClr val="0D9488"/>
                    </a:solidFill>
                  </a:tcPr>
                </a:tc>
                <a:tc>
                  <a:txBody>
                    <a:bodyPr/>
                    <a:lstStyle/>
                    <a:p>
                      <a:pPr algn="ctr"/>
                      <a:r>
                        <a:rPr sz="1000" b="1">
                          <a:solidFill>
                            <a:srgbClr val="FFFFFF"/>
                          </a:solidFill>
                          <a:latin typeface="Arial"/>
                        </a:rPr>
                        <a:t>Exact Match (Day 7)</a:t>
                      </a:r>
                    </a:p>
                  </a:txBody>
                  <a:tcPr>
                    <a:solidFill>
                      <a:srgbClr val="0D9488"/>
                    </a:solidFill>
                  </a:tcPr>
                </a:tc>
                <a:tc>
                  <a:txBody>
                    <a:bodyPr/>
                    <a:lstStyle/>
                    <a:p>
                      <a:pPr algn="ctr"/>
                      <a:r>
                        <a:rPr sz="1000" b="1">
                          <a:solidFill>
                            <a:srgbClr val="FFFFFF"/>
                          </a:solidFill>
                          <a:latin typeface="Arial"/>
                        </a:rPr>
                        <a:t>Regex + Normalization (Day 8)</a:t>
                      </a:r>
                    </a:p>
                  </a:txBody>
                  <a:tcPr>
                    <a:solidFill>
                      <a:srgbClr val="0D9488"/>
                    </a:solidFill>
                  </a:tcPr>
                </a:tc>
                <a:extLst>
                  <a:ext uri="{0D108BD9-81ED-4DB2-BD59-A6C34878D82A}">
                    <a16:rowId xmlns:a16="http://schemas.microsoft.com/office/drawing/2014/main" val="10000"/>
                  </a:ext>
                </a:extLst>
              </a:tr>
              <a:tr h="457200">
                <a:tc>
                  <a:txBody>
                    <a:bodyPr/>
                    <a:lstStyle/>
                    <a:p>
                      <a:pPr algn="l"/>
                      <a:r>
                        <a:rPr sz="1050">
                          <a:latin typeface="Arial"/>
                        </a:rPr>
                        <a:t>SQL</a:t>
                      </a:r>
                    </a:p>
                  </a:txBody>
                  <a:tcPr>
                    <a:solidFill>
                      <a:srgbClr val="F8FAFC"/>
                    </a:solidFill>
                  </a:tcPr>
                </a:tc>
                <a:tc>
                  <a:txBody>
                    <a:bodyPr/>
                    <a:lstStyle/>
                    <a:p>
                      <a:pPr algn="ctr"/>
                      <a:r>
                        <a:rPr sz="1050">
                          <a:latin typeface="Arial"/>
                        </a:rPr>
                        <a:t>193 postings</a:t>
                      </a:r>
                    </a:p>
                  </a:txBody>
                  <a:tcPr>
                    <a:solidFill>
                      <a:srgbClr val="F8FAFC"/>
                    </a:solidFill>
                  </a:tcPr>
                </a:tc>
                <a:tc>
                  <a:txBody>
                    <a:bodyPr/>
                    <a:lstStyle/>
                    <a:p>
                      <a:pPr algn="ctr"/>
                      <a:r>
                        <a:rPr sz="1050" b="1">
                          <a:solidFill>
                            <a:srgbClr val="D97706"/>
                          </a:solidFill>
                          <a:latin typeface="Arial"/>
                        </a:rPr>
                        <a:t>255 postings (+32%)</a:t>
                      </a:r>
                    </a:p>
                  </a:txBody>
                  <a:tcPr>
                    <a:solidFill>
                      <a:srgbClr val="F8FAFC"/>
                    </a:solidFill>
                  </a:tcPr>
                </a:tc>
                <a:extLst>
                  <a:ext uri="{0D108BD9-81ED-4DB2-BD59-A6C34878D82A}">
                    <a16:rowId xmlns:a16="http://schemas.microsoft.com/office/drawing/2014/main" val="10001"/>
                  </a:ext>
                </a:extLst>
              </a:tr>
              <a:tr h="457200">
                <a:tc>
                  <a:txBody>
                    <a:bodyPr/>
                    <a:lstStyle/>
                    <a:p>
                      <a:pPr algn="l"/>
                      <a:r>
                        <a:rPr sz="1050">
                          <a:latin typeface="Arial"/>
                        </a:rPr>
                        <a:t>Power BI</a:t>
                      </a:r>
                    </a:p>
                  </a:txBody>
                  <a:tcPr>
                    <a:solidFill>
                      <a:srgbClr val="FFFFFF"/>
                    </a:solidFill>
                  </a:tcPr>
                </a:tc>
                <a:tc>
                  <a:txBody>
                    <a:bodyPr/>
                    <a:lstStyle/>
                    <a:p>
                      <a:pPr algn="ctr"/>
                      <a:r>
                        <a:rPr sz="1050">
                          <a:latin typeface="Arial"/>
                        </a:rPr>
                        <a:t>155 postings</a:t>
                      </a:r>
                    </a:p>
                  </a:txBody>
                  <a:tcPr>
                    <a:solidFill>
                      <a:srgbClr val="FFFFFF"/>
                    </a:solidFill>
                  </a:tcPr>
                </a:tc>
                <a:tc>
                  <a:txBody>
                    <a:bodyPr/>
                    <a:lstStyle/>
                    <a:p>
                      <a:pPr algn="ctr"/>
                      <a:r>
                        <a:rPr sz="1050">
                          <a:latin typeface="Arial"/>
                        </a:rPr>
                        <a:t>155 postings (no delta)</a:t>
                      </a:r>
                    </a:p>
                  </a:txBody>
                  <a:tcPr>
                    <a:solidFill>
                      <a:srgbClr val="FFFFFF"/>
                    </a:solidFill>
                  </a:tcPr>
                </a:tc>
                <a:extLst>
                  <a:ext uri="{0D108BD9-81ED-4DB2-BD59-A6C34878D82A}">
                    <a16:rowId xmlns:a16="http://schemas.microsoft.com/office/drawing/2014/main" val="10002"/>
                  </a:ext>
                </a:extLst>
              </a:tr>
            </a:tbl>
          </a:graphicData>
        </a:graphic>
      </p:graphicFrame>
      <p:sp>
        <p:nvSpPr>
          <p:cNvPr id="7" name="Rounded Rectangle 6"/>
          <p:cNvSpPr/>
          <p:nvPr/>
        </p:nvSpPr>
        <p:spPr>
          <a:xfrm>
            <a:off x="6400800" y="3611880"/>
            <a:ext cx="5212080" cy="16459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300" b="1">
                <a:solidFill>
                  <a:srgbClr val="FFFFFF"/>
                </a:solidFill>
                <a:latin typeface="Georgia"/>
              </a:defRPr>
            </a:pPr>
            <a:r>
              <a:t>Day 5 Initial Matching Run Summary</a:t>
            </a:r>
          </a:p>
          <a:p>
            <a:pPr algn="ctr">
              <a:defRPr sz="3200" b="1">
                <a:solidFill>
                  <a:srgbClr val="D97706"/>
                </a:solidFill>
                <a:latin typeface="Arial"/>
              </a:defRPr>
            </a:pPr>
            <a:r>
              <a:t>3.26</a:t>
            </a:r>
          </a:p>
          <a:p>
            <a:pPr algn="ctr">
              <a:defRPr sz="1100">
                <a:solidFill>
                  <a:srgbClr val="F8FAFC"/>
                </a:solidFill>
                <a:latin typeface="Arial"/>
              </a:defRPr>
            </a:pPr>
            <a:r>
              <a:t>Average matched skills per job posting</a:t>
            </a:r>
            <a:br/>
            <a:r>
              <a:t>(with 148 postings reporting 0 matched skills)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Corpus TF-IDF and LSA embeddings discover implicit skills</a:t>
            </a:r>
          </a:p>
          <a:p>
            <a:pPr>
              <a:defRPr sz="1200" i="1">
                <a:solidFill>
                  <a:srgbClr val="0D9488"/>
                </a:solidFill>
                <a:latin typeface="Arial"/>
              </a:defRPr>
            </a:pPr>
            <a:r>
              <a:t>Statistical Term Weighting, Phrase N-Grams, and Semantic Embeddings</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60020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spcAft>
                <a:spcPts val="400"/>
              </a:spcAft>
              <a:defRPr sz="1600" b="1">
                <a:solidFill>
                  <a:srgbClr val="1E3A8A"/>
                </a:solidFill>
                <a:latin typeface="Georgia"/>
              </a:defRPr>
            </a:pPr>
            <a:r>
              <a:t>TF-IDF Vectorization</a:t>
            </a:r>
          </a:p>
          <a:p>
            <a:pPr>
              <a:spcAft>
                <a:spcPts val="1400"/>
              </a:spcAft>
              <a:defRPr sz="1050" i="1">
                <a:solidFill>
                  <a:srgbClr val="0D9488"/>
                </a:solidFill>
                <a:latin typeface="Arial"/>
              </a:defRPr>
            </a:pPr>
            <a:r>
              <a:t>Identifying Key Terms Stochastically</a:t>
            </a:r>
          </a:p>
          <a:p>
            <a:pPr>
              <a:spcAft>
                <a:spcPts val="600"/>
              </a:spcAft>
              <a:defRPr sz="1100">
                <a:solidFill>
                  <a:srgbClr val="0F172A"/>
                </a:solidFill>
                <a:latin typeface="Arial"/>
              </a:defRPr>
            </a:pPr>
            <a:r>
              <a:t>• Applied TfidfVectorizer on the 910-description corpus.</a:t>
            </a:r>
          </a:p>
          <a:p>
            <a:pPr>
              <a:spcAft>
                <a:spcPts val="600"/>
              </a:spcAft>
              <a:defRPr sz="1100">
                <a:solidFill>
                  <a:srgbClr val="0F172A"/>
                </a:solidFill>
                <a:latin typeface="Arial"/>
              </a:defRPr>
            </a:pPr>
            <a:r>
              <a:t>• Configured with 1,000-feature vocabulary and English stopword filtering.</a:t>
            </a:r>
          </a:p>
          <a:p>
            <a:pPr>
              <a:spcAft>
                <a:spcPts val="600"/>
              </a:spcAft>
              <a:defRPr sz="1100">
                <a:solidFill>
                  <a:srgbClr val="0F172A"/>
                </a:solidFill>
                <a:latin typeface="Arial"/>
              </a:defRPr>
            </a:pPr>
            <a:r>
              <a:t>• Helps extract terms based on document frequency weights.</a:t>
            </a:r>
          </a:p>
          <a:p>
            <a:pPr>
              <a:spcAft>
                <a:spcPts val="600"/>
              </a:spcAft>
              <a:defRPr sz="1100">
                <a:solidFill>
                  <a:srgbClr val="0F172A"/>
                </a:solidFill>
                <a:latin typeface="Arial"/>
              </a:defRPr>
            </a:pPr>
            <a:r>
              <a:t>• High-frequency general terms are filtered out to highlight specialized skills.</a:t>
            </a:r>
          </a:p>
        </p:txBody>
      </p:sp>
      <p:sp>
        <p:nvSpPr>
          <p:cNvPr id="5" name="Rounded Rectangle 4"/>
          <p:cNvSpPr/>
          <p:nvPr/>
        </p:nvSpPr>
        <p:spPr>
          <a:xfrm>
            <a:off x="4389120" y="160020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spcAft>
                <a:spcPts val="400"/>
              </a:spcAft>
              <a:defRPr sz="1600" b="1">
                <a:solidFill>
                  <a:srgbClr val="1E3A8A"/>
                </a:solidFill>
                <a:latin typeface="Georgia"/>
              </a:defRPr>
            </a:pPr>
            <a:r>
              <a:t>N-Gram Phrase Discovery</a:t>
            </a:r>
          </a:p>
          <a:p>
            <a:pPr>
              <a:spcAft>
                <a:spcPts val="1400"/>
              </a:spcAft>
              <a:defRPr sz="1050" i="1">
                <a:solidFill>
                  <a:srgbClr val="0D9488"/>
                </a:solidFill>
                <a:latin typeface="Arial"/>
              </a:defRPr>
            </a:pPr>
            <a:r>
              <a:t>Capturing Multi-Word Skill Meanings</a:t>
            </a:r>
          </a:p>
          <a:p>
            <a:pPr>
              <a:spcAft>
                <a:spcPts val="600"/>
              </a:spcAft>
              <a:defRPr sz="1100">
                <a:solidFill>
                  <a:srgbClr val="0F172A"/>
                </a:solidFill>
                <a:latin typeface="Arial"/>
              </a:defRPr>
            </a:pPr>
            <a:r>
              <a:t>• Unigrams fail on complex terms; N-gram analysis bridges this gap.</a:t>
            </a:r>
          </a:p>
          <a:p>
            <a:pPr>
              <a:spcAft>
                <a:spcPts val="600"/>
              </a:spcAft>
              <a:defRPr sz="1100">
                <a:solidFill>
                  <a:srgbClr val="0F172A"/>
                </a:solidFill>
                <a:latin typeface="Arial"/>
              </a:defRPr>
            </a:pPr>
            <a:r>
              <a:t>• 'Machine learning' was identified as the top bigram (1,306 occurrences).</a:t>
            </a:r>
          </a:p>
          <a:p>
            <a:pPr>
              <a:spcAft>
                <a:spcPts val="600"/>
              </a:spcAft>
              <a:defRPr sz="1100">
                <a:solidFill>
                  <a:srgbClr val="0F172A"/>
                </a:solidFill>
                <a:latin typeface="Arial"/>
              </a:defRPr>
            </a:pPr>
            <a:r>
              <a:t>• Captures phrases like 'natural language processing' or 'data analysis'.</a:t>
            </a:r>
          </a:p>
          <a:p>
            <a:pPr>
              <a:spcAft>
                <a:spcPts val="600"/>
              </a:spcAft>
              <a:defRPr sz="1100">
                <a:solidFill>
                  <a:srgbClr val="0F172A"/>
                </a:solidFill>
                <a:latin typeface="Arial"/>
              </a:defRPr>
            </a:pPr>
            <a:r>
              <a:t>• Helps isolate and filter recurring boilerplate or EEO legal phrases.</a:t>
            </a:r>
          </a:p>
        </p:txBody>
      </p:sp>
      <p:sp>
        <p:nvSpPr>
          <p:cNvPr id="6" name="Rounded Rectangle 5"/>
          <p:cNvSpPr/>
          <p:nvPr/>
        </p:nvSpPr>
        <p:spPr>
          <a:xfrm>
            <a:off x="8229600" y="160020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spcAft>
                <a:spcPts val="400"/>
              </a:spcAft>
              <a:defRPr sz="1600" b="1">
                <a:solidFill>
                  <a:srgbClr val="1E3A8A"/>
                </a:solidFill>
                <a:latin typeface="Georgia"/>
              </a:defRPr>
            </a:pPr>
            <a:r>
              <a:t>LSA Semantic Embeddings</a:t>
            </a:r>
          </a:p>
          <a:p>
            <a:pPr>
              <a:spcAft>
                <a:spcPts val="1400"/>
              </a:spcAft>
              <a:defRPr sz="1050" i="1">
                <a:solidFill>
                  <a:srgbClr val="0D9488"/>
                </a:solidFill>
                <a:latin typeface="Arial"/>
              </a:defRPr>
            </a:pPr>
            <a:r>
              <a:t>Local Embeddings without Heavy Pre-trained Models</a:t>
            </a:r>
          </a:p>
          <a:p>
            <a:pPr>
              <a:spcAft>
                <a:spcPts val="600"/>
              </a:spcAft>
              <a:defRPr sz="1100">
                <a:solidFill>
                  <a:srgbClr val="0F172A"/>
                </a:solidFill>
                <a:latin typeface="Arial"/>
              </a:defRPr>
            </a:pPr>
            <a:r>
              <a:t>• Transposed the TF-IDF matrix and reduced it using TruncatedSVD to 100 dimensions.</a:t>
            </a:r>
          </a:p>
          <a:p>
            <a:pPr>
              <a:spcAft>
                <a:spcPts val="600"/>
              </a:spcAft>
              <a:defRPr sz="1100">
                <a:solidFill>
                  <a:srgbClr val="0F172A"/>
                </a:solidFill>
                <a:latin typeface="Arial"/>
              </a:defRPr>
            </a:pPr>
            <a:r>
              <a:t>• Obtains phrase vectors by averaging word vectors.</a:t>
            </a:r>
          </a:p>
          <a:p>
            <a:pPr>
              <a:spcAft>
                <a:spcPts val="600"/>
              </a:spcAft>
              <a:defRPr sz="1100">
                <a:solidFill>
                  <a:srgbClr val="0F172A"/>
                </a:solidFill>
                <a:latin typeface="Arial"/>
              </a:defRPr>
            </a:pPr>
            <a:r>
              <a:t>• Utilizes cosine similarity to match and discover candidate synonyms or aliases.</a:t>
            </a:r>
          </a:p>
          <a:p>
            <a:pPr>
              <a:spcAft>
                <a:spcPts val="600"/>
              </a:spcAft>
              <a:defRPr sz="1100">
                <a:solidFill>
                  <a:srgbClr val="0F172A"/>
                </a:solidFill>
                <a:latin typeface="Arial"/>
              </a:defRPr>
            </a:pPr>
            <a:r>
              <a:t>• Bypasses external pre-trained memory constraints.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Custom EntityRuler overrides standard spaCy NER limitations</a:t>
            </a:r>
          </a:p>
          <a:p>
            <a:pPr>
              <a:defRPr sz="1200" i="1">
                <a:solidFill>
                  <a:srgbClr val="0D9488"/>
                </a:solidFill>
                <a:latin typeface="Arial"/>
              </a:defRPr>
            </a:pPr>
            <a:r>
              <a:t>Bridging Statistical NER Limitations with Custom Domain Rules</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554480"/>
            <a:ext cx="5120640" cy="4572000"/>
          </a:xfrm>
          <a:prstGeom prst="rect">
            <a:avLst/>
          </a:prstGeom>
          <a:noFill/>
        </p:spPr>
        <p:txBody>
          <a:bodyPr wrap="square">
            <a:spAutoFit/>
          </a:bodyPr>
          <a:lstStyle/>
          <a:p>
            <a:pPr>
              <a:spcAft>
                <a:spcPts val="1200"/>
              </a:spcAft>
              <a:defRPr sz="1800" b="1">
                <a:solidFill>
                  <a:srgbClr val="1E3A8A"/>
                </a:solidFill>
                <a:latin typeface="Georgia"/>
              </a:defRPr>
            </a:pPr>
            <a:r>
              <a:t>Custom spaCy NER Implementation</a:t>
            </a:r>
          </a:p>
          <a:p>
            <a:pPr>
              <a:spcBef>
                <a:spcPts val="300"/>
              </a:spcBef>
              <a:spcAft>
                <a:spcPts val="700"/>
              </a:spcAft>
            </a:pPr>
            <a:r>
              <a:rPr sz="1350">
                <a:solidFill>
                  <a:srgbClr val="0D9488"/>
                </a:solidFill>
                <a:latin typeface="Arial"/>
              </a:rPr>
              <a:t>▪ </a:t>
            </a:r>
            <a:r>
              <a:rPr sz="1350" b="1">
                <a:solidFill>
                  <a:srgbClr val="0F172A"/>
                </a:solidFill>
                <a:latin typeface="Arial"/>
              </a:rPr>
              <a:t>Standard spaCy NER Failure: </a:t>
            </a:r>
            <a:r>
              <a:rPr sz="1350">
                <a:solidFill>
                  <a:srgbClr val="64748B"/>
                </a:solidFill>
                <a:latin typeface="Arial"/>
              </a:rPr>
              <a:t>General-purpose models are trained on news text, often misclassifying technical entities (e.g., tagging PostgreSQL as GPE/Location, and Docker as PERSON/ORG).</a:t>
            </a:r>
          </a:p>
          <a:p>
            <a:pPr>
              <a:spcBef>
                <a:spcPts val="300"/>
              </a:spcBef>
              <a:spcAft>
                <a:spcPts val="700"/>
              </a:spcAft>
            </a:pPr>
            <a:r>
              <a:rPr sz="1350">
                <a:solidFill>
                  <a:srgbClr val="0D9488"/>
                </a:solidFill>
                <a:latin typeface="Arial"/>
              </a:rPr>
              <a:t>▪ </a:t>
            </a:r>
            <a:r>
              <a:rPr sz="1350" b="1">
                <a:solidFill>
                  <a:srgbClr val="0F172A"/>
                </a:solidFill>
                <a:latin typeface="Arial"/>
              </a:rPr>
              <a:t>Custom EntityRuler Integration: </a:t>
            </a:r>
            <a:r>
              <a:rPr sz="1350">
                <a:solidFill>
                  <a:srgbClr val="64748B"/>
                </a:solidFill>
                <a:latin typeface="Arial"/>
              </a:rPr>
              <a:t>Designed 24 custom rules and integrated them before spaCy's statistical NER pipeline to label known entities consistently.</a:t>
            </a:r>
          </a:p>
          <a:p>
            <a:pPr>
              <a:spcBef>
                <a:spcPts val="300"/>
              </a:spcBef>
              <a:spcAft>
                <a:spcPts val="700"/>
              </a:spcAft>
            </a:pPr>
            <a:r>
              <a:rPr sz="1350">
                <a:solidFill>
                  <a:srgbClr val="0D9488"/>
                </a:solidFill>
                <a:latin typeface="Arial"/>
              </a:rPr>
              <a:t>▪ </a:t>
            </a:r>
            <a:r>
              <a:rPr sz="1350" b="1">
                <a:solidFill>
                  <a:srgbClr val="0F172A"/>
                </a:solidFill>
                <a:latin typeface="Arial"/>
              </a:rPr>
              <a:t>Five Domain Labels: </a:t>
            </a:r>
            <a:r>
              <a:rPr sz="1350">
                <a:solidFill>
                  <a:srgbClr val="64748B"/>
                </a:solidFill>
                <a:latin typeface="Arial"/>
              </a:rPr>
              <a:t>Defined SKILL (Python, ML), TOOL (Power BI, Excel), TECHNOLOGY (PyTorch, Spark), DATABASE (PostgreSQL, MongoDB), and CLOUD_PLATFORM (AWS, Azure).</a:t>
            </a:r>
          </a:p>
          <a:p>
            <a:pPr>
              <a:spcBef>
                <a:spcPts val="300"/>
              </a:spcBef>
              <a:spcAft>
                <a:spcPts val="700"/>
              </a:spcAft>
            </a:pPr>
            <a:r>
              <a:rPr sz="1350">
                <a:solidFill>
                  <a:srgbClr val="0D9488"/>
                </a:solidFill>
                <a:latin typeface="Arial"/>
              </a:rPr>
              <a:t>▪ </a:t>
            </a:r>
            <a:r>
              <a:rPr sz="1350" b="1">
                <a:solidFill>
                  <a:srgbClr val="0F172A"/>
                </a:solidFill>
                <a:latin typeface="Arial"/>
              </a:rPr>
              <a:t>Batch Processing: </a:t>
            </a:r>
            <a:r>
              <a:rPr sz="1350">
                <a:solidFill>
                  <a:srgbClr val="64748B"/>
                </a:solidFill>
                <a:latin typeface="Arial"/>
              </a:rPr>
              <a:t>Applied the pipeline over 300 real job postings using `nlp.pipe()` for high performance.</a:t>
            </a:r>
          </a:p>
        </p:txBody>
      </p:sp>
      <p:pic>
        <p:nvPicPr>
          <p:cNvPr id="6" name="Picture 5">
            <a:extLst>
              <a:ext uri="{FF2B5EF4-FFF2-40B4-BE49-F238E27FC236}">
                <a16:creationId xmlns:a16="http://schemas.microsoft.com/office/drawing/2014/main" id="{ABF3BE85-CAEF-490B-A724-9337A296B563}"/>
              </a:ext>
            </a:extLst>
          </p:cNvPr>
          <p:cNvPicPr/>
          <p:nvPr/>
        </p:nvPicPr>
        <p:blipFill>
          <a:blip r:embed="rId3"/>
          <a:stretch>
            <a:fillRect/>
          </a:stretch>
        </p:blipFill>
        <p:spPr>
          <a:xfrm>
            <a:off x="5830455" y="1554480"/>
            <a:ext cx="6007735" cy="48120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Character n-grams and Logistic Regression classify unseen terms</a:t>
            </a:r>
          </a:p>
          <a:p>
            <a:pPr>
              <a:defRPr sz="1200" i="1">
                <a:solidFill>
                  <a:srgbClr val="0D9488"/>
                </a:solidFill>
                <a:latin typeface="Arial"/>
              </a:defRPr>
            </a:pPr>
            <a:r>
              <a:t>Supervised Term-Categorization Classifier Design</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554480"/>
            <a:ext cx="5486400" cy="4572000"/>
          </a:xfrm>
          <a:prstGeom prst="rect">
            <a:avLst/>
          </a:prstGeom>
          <a:noFill/>
        </p:spPr>
        <p:txBody>
          <a:bodyPr wrap="square">
            <a:spAutoFit/>
          </a:bodyPr>
          <a:lstStyle/>
          <a:p>
            <a:pPr>
              <a:spcAft>
                <a:spcPts val="1200"/>
              </a:spcAft>
              <a:defRPr sz="1800" b="1">
                <a:solidFill>
                  <a:srgbClr val="1E3A8A"/>
                </a:solidFill>
                <a:latin typeface="Georgia"/>
              </a:defRPr>
            </a:pPr>
            <a:r>
              <a:t>Classifier Architecture &amp; Features</a:t>
            </a:r>
          </a:p>
          <a:p>
            <a:pPr>
              <a:spcBef>
                <a:spcPts val="300"/>
              </a:spcBef>
              <a:spcAft>
                <a:spcPts val="700"/>
              </a:spcAft>
            </a:pPr>
            <a:r>
              <a:rPr sz="1350">
                <a:solidFill>
                  <a:srgbClr val="0D9488"/>
                </a:solidFill>
                <a:latin typeface="Arial"/>
              </a:rPr>
              <a:t>▪ </a:t>
            </a:r>
            <a:r>
              <a:rPr sz="1350" b="1">
                <a:solidFill>
                  <a:srgbClr val="0F172A"/>
                </a:solidFill>
                <a:latin typeface="Arial"/>
              </a:rPr>
              <a:t>Supervised Classification Task: </a:t>
            </a:r>
            <a:r>
              <a:rPr sz="1350">
                <a:solidFill>
                  <a:srgbClr val="64748B"/>
                </a:solidFill>
                <a:latin typeface="Arial"/>
              </a:rPr>
              <a:t>Predicts specific classes for term entities: SKILL, CLOUD, DATABASE, BI_TOOL, DEVOPS_TOOL, BIG_DATA_TOOL, and ML_FRAMEWORK.</a:t>
            </a:r>
          </a:p>
          <a:p>
            <a:pPr>
              <a:spcBef>
                <a:spcPts val="300"/>
              </a:spcBef>
              <a:spcAft>
                <a:spcPts val="700"/>
              </a:spcAft>
            </a:pPr>
            <a:r>
              <a:rPr sz="1350">
                <a:solidFill>
                  <a:srgbClr val="0D9488"/>
                </a:solidFill>
                <a:latin typeface="Arial"/>
              </a:rPr>
              <a:t>▪ </a:t>
            </a:r>
            <a:r>
              <a:rPr sz="1350" b="1">
                <a:solidFill>
                  <a:srgbClr val="0F172A"/>
                </a:solidFill>
                <a:latin typeface="Arial"/>
              </a:rPr>
              <a:t>Not-a-Skill Filter: </a:t>
            </a:r>
            <a:r>
              <a:rPr sz="1350">
                <a:solidFill>
                  <a:srgbClr val="64748B"/>
                </a:solidFill>
                <a:latin typeface="Arial"/>
              </a:rPr>
              <a:t>Includes a NOT_SKILL class (e.g. experience, years, degree) so that generic tokens are filtered out instead of forced into technical categories.</a:t>
            </a:r>
          </a:p>
          <a:p>
            <a:pPr>
              <a:spcBef>
                <a:spcPts val="300"/>
              </a:spcBef>
              <a:spcAft>
                <a:spcPts val="700"/>
              </a:spcAft>
            </a:pPr>
            <a:r>
              <a:rPr sz="1350">
                <a:solidFill>
                  <a:srgbClr val="0D9488"/>
                </a:solidFill>
                <a:latin typeface="Arial"/>
              </a:rPr>
              <a:t>▪ </a:t>
            </a:r>
            <a:r>
              <a:rPr sz="1350" b="1">
                <a:solidFill>
                  <a:srgbClr val="0F172A"/>
                </a:solidFill>
                <a:latin typeface="Arial"/>
              </a:rPr>
              <a:t>Character N-Gram Features: </a:t>
            </a:r>
            <a:r>
              <a:rPr sz="1350">
                <a:solidFill>
                  <a:srgbClr val="64748B"/>
                </a:solidFill>
                <a:latin typeface="Arial"/>
              </a:rPr>
              <a:t>Uses TfidfVectorizer with word-boundary character n-grams in range (2,4) to capture structural sub-word similarities in short technical terms.</a:t>
            </a:r>
          </a:p>
          <a:p>
            <a:pPr>
              <a:spcBef>
                <a:spcPts val="300"/>
              </a:spcBef>
              <a:spcAft>
                <a:spcPts val="700"/>
              </a:spcAft>
            </a:pPr>
            <a:r>
              <a:rPr sz="1350">
                <a:solidFill>
                  <a:srgbClr val="0D9488"/>
                </a:solidFill>
                <a:latin typeface="Arial"/>
              </a:rPr>
              <a:t>▪ </a:t>
            </a:r>
            <a:r>
              <a:rPr sz="1350" b="1">
                <a:solidFill>
                  <a:srgbClr val="0F172A"/>
                </a:solidFill>
                <a:latin typeface="Arial"/>
              </a:rPr>
              <a:t>Logistic Regression: </a:t>
            </a:r>
            <a:r>
              <a:rPr sz="1350">
                <a:solidFill>
                  <a:srgbClr val="64748B"/>
                </a:solidFill>
                <a:latin typeface="Arial"/>
              </a:rPr>
              <a:t>Trained with `class_weight='balanced'` and `max_iter=1000`. Character sub-word features make the classifier robust against misspelling variants.</a:t>
            </a:r>
          </a:p>
        </p:txBody>
      </p:sp>
      <p:sp>
        <p:nvSpPr>
          <p:cNvPr id="5" name="TextBox 4"/>
          <p:cNvSpPr txBox="1"/>
          <p:nvPr/>
        </p:nvSpPr>
        <p:spPr>
          <a:xfrm>
            <a:off x="6400800" y="1554480"/>
            <a:ext cx="5212080" cy="4572000"/>
          </a:xfrm>
          <a:prstGeom prst="rect">
            <a:avLst/>
          </a:prstGeom>
          <a:noFill/>
        </p:spPr>
        <p:txBody>
          <a:bodyPr wrap="square">
            <a:spAutoFit/>
          </a:bodyPr>
          <a:lstStyle/>
          <a:p>
            <a:pPr>
              <a:spcAft>
                <a:spcPts val="1200"/>
              </a:spcAft>
              <a:defRPr sz="1600" b="1">
                <a:solidFill>
                  <a:srgbClr val="1E3A8A"/>
                </a:solidFill>
                <a:latin typeface="Georgia"/>
              </a:defRPr>
            </a:pPr>
            <a:r>
              <a:t>Training Schema &amp; Representation Mapping</a:t>
            </a:r>
          </a:p>
        </p:txBody>
      </p:sp>
      <p:graphicFrame>
        <p:nvGraphicFramePr>
          <p:cNvPr id="6" name="Table 5"/>
          <p:cNvGraphicFramePr>
            <a:graphicFrameLocks noGrp="1"/>
          </p:cNvGraphicFramePr>
          <p:nvPr/>
        </p:nvGraphicFramePr>
        <p:xfrm>
          <a:off x="6400800" y="2103120"/>
          <a:ext cx="5212080" cy="34747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86080">
                <a:tc>
                  <a:txBody>
                    <a:bodyPr/>
                    <a:lstStyle/>
                    <a:p>
                      <a:pPr algn="ctr"/>
                      <a:r>
                        <a:rPr sz="1100" b="1">
                          <a:solidFill>
                            <a:srgbClr val="FFFFFF"/>
                          </a:solidFill>
                          <a:latin typeface="Arial"/>
                        </a:rPr>
                        <a:t>Clean Term</a:t>
                      </a:r>
                    </a:p>
                  </a:txBody>
                  <a:tcPr>
                    <a:solidFill>
                      <a:srgbClr val="1E3A8A"/>
                    </a:solidFill>
                  </a:tcPr>
                </a:tc>
                <a:tc>
                  <a:txBody>
                    <a:bodyPr/>
                    <a:lstStyle/>
                    <a:p>
                      <a:pPr algn="ctr"/>
                      <a:r>
                        <a:rPr sz="1100" b="1">
                          <a:solidFill>
                            <a:srgbClr val="FFFFFF"/>
                          </a:solidFill>
                          <a:latin typeface="Arial"/>
                        </a:rPr>
                        <a:t>Target Class</a:t>
                      </a:r>
                    </a:p>
                  </a:txBody>
                  <a:tcPr>
                    <a:solidFill>
                      <a:srgbClr val="1E3A8A"/>
                    </a:solidFill>
                  </a:tcPr>
                </a:tc>
                <a:extLst>
                  <a:ext uri="{0D108BD9-81ED-4DB2-BD59-A6C34878D82A}">
                    <a16:rowId xmlns:a16="http://schemas.microsoft.com/office/drawing/2014/main" val="10000"/>
                  </a:ext>
                </a:extLst>
              </a:tr>
              <a:tr h="386080">
                <a:tc>
                  <a:txBody>
                    <a:bodyPr/>
                    <a:lstStyle/>
                    <a:p>
                      <a:pPr algn="l"/>
                      <a:r>
                        <a:rPr sz="1050">
                          <a:solidFill>
                            <a:srgbClr val="0F172A"/>
                          </a:solidFill>
                          <a:latin typeface="Arial"/>
                        </a:rPr>
                        <a:t>python</a:t>
                      </a:r>
                    </a:p>
                  </a:txBody>
                  <a:tcPr>
                    <a:solidFill>
                      <a:srgbClr val="F8FAFC"/>
                    </a:solidFill>
                  </a:tcPr>
                </a:tc>
                <a:tc>
                  <a:txBody>
                    <a:bodyPr/>
                    <a:lstStyle/>
                    <a:p>
                      <a:pPr algn="ctr"/>
                      <a:r>
                        <a:rPr sz="1050" b="1">
                          <a:solidFill>
                            <a:srgbClr val="0D9488"/>
                          </a:solidFill>
                          <a:latin typeface="Arial"/>
                        </a:rPr>
                        <a:t>SKILL</a:t>
                      </a:r>
                    </a:p>
                  </a:txBody>
                  <a:tcPr>
                    <a:solidFill>
                      <a:srgbClr val="F8FAFC"/>
                    </a:solidFill>
                  </a:tcPr>
                </a:tc>
                <a:extLst>
                  <a:ext uri="{0D108BD9-81ED-4DB2-BD59-A6C34878D82A}">
                    <a16:rowId xmlns:a16="http://schemas.microsoft.com/office/drawing/2014/main" val="10001"/>
                  </a:ext>
                </a:extLst>
              </a:tr>
              <a:tr h="386080">
                <a:tc>
                  <a:txBody>
                    <a:bodyPr/>
                    <a:lstStyle/>
                    <a:p>
                      <a:pPr algn="l"/>
                      <a:r>
                        <a:rPr sz="1050">
                          <a:solidFill>
                            <a:srgbClr val="0F172A"/>
                          </a:solidFill>
                          <a:latin typeface="Arial"/>
                        </a:rPr>
                        <a:t>aws</a:t>
                      </a:r>
                    </a:p>
                  </a:txBody>
                  <a:tcPr>
                    <a:solidFill>
                      <a:srgbClr val="FFFFFF"/>
                    </a:solidFill>
                  </a:tcPr>
                </a:tc>
                <a:tc>
                  <a:txBody>
                    <a:bodyPr/>
                    <a:lstStyle/>
                    <a:p>
                      <a:pPr algn="ctr"/>
                      <a:r>
                        <a:rPr sz="1050" b="1">
                          <a:solidFill>
                            <a:srgbClr val="0D9488"/>
                          </a:solidFill>
                          <a:latin typeface="Arial"/>
                        </a:rPr>
                        <a:t>CLOUD</a:t>
                      </a:r>
                    </a:p>
                  </a:txBody>
                  <a:tcPr>
                    <a:solidFill>
                      <a:srgbClr val="FFFFFF"/>
                    </a:solidFill>
                  </a:tcPr>
                </a:tc>
                <a:extLst>
                  <a:ext uri="{0D108BD9-81ED-4DB2-BD59-A6C34878D82A}">
                    <a16:rowId xmlns:a16="http://schemas.microsoft.com/office/drawing/2014/main" val="10002"/>
                  </a:ext>
                </a:extLst>
              </a:tr>
              <a:tr h="386080">
                <a:tc>
                  <a:txBody>
                    <a:bodyPr/>
                    <a:lstStyle/>
                    <a:p>
                      <a:pPr algn="l"/>
                      <a:r>
                        <a:rPr sz="1050">
                          <a:solidFill>
                            <a:srgbClr val="0F172A"/>
                          </a:solidFill>
                          <a:latin typeface="Arial"/>
                        </a:rPr>
                        <a:t>postgresql</a:t>
                      </a:r>
                    </a:p>
                  </a:txBody>
                  <a:tcPr>
                    <a:solidFill>
                      <a:srgbClr val="F8FAFC"/>
                    </a:solidFill>
                  </a:tcPr>
                </a:tc>
                <a:tc>
                  <a:txBody>
                    <a:bodyPr/>
                    <a:lstStyle/>
                    <a:p>
                      <a:pPr algn="ctr"/>
                      <a:r>
                        <a:rPr sz="1050" b="1">
                          <a:solidFill>
                            <a:srgbClr val="0D9488"/>
                          </a:solidFill>
                          <a:latin typeface="Arial"/>
                        </a:rPr>
                        <a:t>DATABASE</a:t>
                      </a:r>
                    </a:p>
                  </a:txBody>
                  <a:tcPr>
                    <a:solidFill>
                      <a:srgbClr val="F8FAFC"/>
                    </a:solidFill>
                  </a:tcPr>
                </a:tc>
                <a:extLst>
                  <a:ext uri="{0D108BD9-81ED-4DB2-BD59-A6C34878D82A}">
                    <a16:rowId xmlns:a16="http://schemas.microsoft.com/office/drawing/2014/main" val="10003"/>
                  </a:ext>
                </a:extLst>
              </a:tr>
              <a:tr h="386080">
                <a:tc>
                  <a:txBody>
                    <a:bodyPr/>
                    <a:lstStyle/>
                    <a:p>
                      <a:pPr algn="l"/>
                      <a:r>
                        <a:rPr sz="1050">
                          <a:solidFill>
                            <a:srgbClr val="0F172A"/>
                          </a:solidFill>
                          <a:latin typeface="Arial"/>
                        </a:rPr>
                        <a:t>power bi</a:t>
                      </a:r>
                    </a:p>
                  </a:txBody>
                  <a:tcPr>
                    <a:solidFill>
                      <a:srgbClr val="FFFFFF"/>
                    </a:solidFill>
                  </a:tcPr>
                </a:tc>
                <a:tc>
                  <a:txBody>
                    <a:bodyPr/>
                    <a:lstStyle/>
                    <a:p>
                      <a:pPr algn="ctr"/>
                      <a:r>
                        <a:rPr sz="1050" b="1">
                          <a:solidFill>
                            <a:srgbClr val="0D9488"/>
                          </a:solidFill>
                          <a:latin typeface="Arial"/>
                        </a:rPr>
                        <a:t>BI_TOOL</a:t>
                      </a:r>
                    </a:p>
                  </a:txBody>
                  <a:tcPr>
                    <a:solidFill>
                      <a:srgbClr val="FFFFFF"/>
                    </a:solidFill>
                  </a:tcPr>
                </a:tc>
                <a:extLst>
                  <a:ext uri="{0D108BD9-81ED-4DB2-BD59-A6C34878D82A}">
                    <a16:rowId xmlns:a16="http://schemas.microsoft.com/office/drawing/2014/main" val="10004"/>
                  </a:ext>
                </a:extLst>
              </a:tr>
              <a:tr h="386080">
                <a:tc>
                  <a:txBody>
                    <a:bodyPr/>
                    <a:lstStyle/>
                    <a:p>
                      <a:pPr algn="l"/>
                      <a:r>
                        <a:rPr sz="1050">
                          <a:solidFill>
                            <a:srgbClr val="0F172A"/>
                          </a:solidFill>
                          <a:latin typeface="Arial"/>
                        </a:rPr>
                        <a:t>tensorflow</a:t>
                      </a:r>
                    </a:p>
                  </a:txBody>
                  <a:tcPr>
                    <a:solidFill>
                      <a:srgbClr val="F8FAFC"/>
                    </a:solidFill>
                  </a:tcPr>
                </a:tc>
                <a:tc>
                  <a:txBody>
                    <a:bodyPr/>
                    <a:lstStyle/>
                    <a:p>
                      <a:pPr algn="ctr"/>
                      <a:r>
                        <a:rPr sz="1050" b="1">
                          <a:solidFill>
                            <a:srgbClr val="0D9488"/>
                          </a:solidFill>
                          <a:latin typeface="Arial"/>
                        </a:rPr>
                        <a:t>ML_FRAMEWORK</a:t>
                      </a:r>
                    </a:p>
                  </a:txBody>
                  <a:tcPr>
                    <a:solidFill>
                      <a:srgbClr val="F8FAFC"/>
                    </a:solidFill>
                  </a:tcPr>
                </a:tc>
                <a:extLst>
                  <a:ext uri="{0D108BD9-81ED-4DB2-BD59-A6C34878D82A}">
                    <a16:rowId xmlns:a16="http://schemas.microsoft.com/office/drawing/2014/main" val="10005"/>
                  </a:ext>
                </a:extLst>
              </a:tr>
              <a:tr h="386080">
                <a:tc>
                  <a:txBody>
                    <a:bodyPr/>
                    <a:lstStyle/>
                    <a:p>
                      <a:pPr algn="l"/>
                      <a:r>
                        <a:rPr sz="1050">
                          <a:solidFill>
                            <a:srgbClr val="0F172A"/>
                          </a:solidFill>
                          <a:latin typeface="Arial"/>
                        </a:rPr>
                        <a:t>docker</a:t>
                      </a:r>
                    </a:p>
                  </a:txBody>
                  <a:tcPr>
                    <a:solidFill>
                      <a:srgbClr val="FFFFFF"/>
                    </a:solidFill>
                  </a:tcPr>
                </a:tc>
                <a:tc>
                  <a:txBody>
                    <a:bodyPr/>
                    <a:lstStyle/>
                    <a:p>
                      <a:pPr algn="ctr"/>
                      <a:r>
                        <a:rPr sz="1050" b="1">
                          <a:solidFill>
                            <a:srgbClr val="0D9488"/>
                          </a:solidFill>
                          <a:latin typeface="Arial"/>
                        </a:rPr>
                        <a:t>DEVOPS_TOOL</a:t>
                      </a:r>
                    </a:p>
                  </a:txBody>
                  <a:tcPr>
                    <a:solidFill>
                      <a:srgbClr val="FFFFFF"/>
                    </a:solidFill>
                  </a:tcPr>
                </a:tc>
                <a:extLst>
                  <a:ext uri="{0D108BD9-81ED-4DB2-BD59-A6C34878D82A}">
                    <a16:rowId xmlns:a16="http://schemas.microsoft.com/office/drawing/2014/main" val="10006"/>
                  </a:ext>
                </a:extLst>
              </a:tr>
              <a:tr h="386080">
                <a:tc>
                  <a:txBody>
                    <a:bodyPr/>
                    <a:lstStyle/>
                    <a:p>
                      <a:pPr algn="l"/>
                      <a:r>
                        <a:rPr sz="1050">
                          <a:solidFill>
                            <a:srgbClr val="0F172A"/>
                          </a:solidFill>
                          <a:latin typeface="Arial"/>
                        </a:rPr>
                        <a:t>spark</a:t>
                      </a:r>
                    </a:p>
                  </a:txBody>
                  <a:tcPr>
                    <a:solidFill>
                      <a:srgbClr val="F8FAFC"/>
                    </a:solidFill>
                  </a:tcPr>
                </a:tc>
                <a:tc>
                  <a:txBody>
                    <a:bodyPr/>
                    <a:lstStyle/>
                    <a:p>
                      <a:pPr algn="ctr"/>
                      <a:r>
                        <a:rPr sz="1050" b="1">
                          <a:solidFill>
                            <a:srgbClr val="0D9488"/>
                          </a:solidFill>
                          <a:latin typeface="Arial"/>
                        </a:rPr>
                        <a:t>BIG_DATA_TOOL</a:t>
                      </a:r>
                    </a:p>
                  </a:txBody>
                  <a:tcPr>
                    <a:solidFill>
                      <a:srgbClr val="F8FAFC"/>
                    </a:solidFill>
                  </a:tcPr>
                </a:tc>
                <a:extLst>
                  <a:ext uri="{0D108BD9-81ED-4DB2-BD59-A6C34878D82A}">
                    <a16:rowId xmlns:a16="http://schemas.microsoft.com/office/drawing/2014/main" val="10007"/>
                  </a:ext>
                </a:extLst>
              </a:tr>
              <a:tr h="386080">
                <a:tc>
                  <a:txBody>
                    <a:bodyPr/>
                    <a:lstStyle/>
                    <a:p>
                      <a:pPr algn="l"/>
                      <a:r>
                        <a:rPr sz="1050">
                          <a:solidFill>
                            <a:srgbClr val="0F172A"/>
                          </a:solidFill>
                          <a:latin typeface="Arial"/>
                        </a:rPr>
                        <a:t>experience</a:t>
                      </a:r>
                    </a:p>
                  </a:txBody>
                  <a:tcPr>
                    <a:solidFill>
                      <a:srgbClr val="FFFFFF"/>
                    </a:solidFill>
                  </a:tcPr>
                </a:tc>
                <a:tc>
                  <a:txBody>
                    <a:bodyPr/>
                    <a:lstStyle/>
                    <a:p>
                      <a:pPr algn="ctr"/>
                      <a:r>
                        <a:rPr sz="1050" b="1">
                          <a:solidFill>
                            <a:srgbClr val="64748B"/>
                          </a:solidFill>
                          <a:latin typeface="Arial"/>
                        </a:rPr>
                        <a:t>NOT_SKILL</a:t>
                      </a:r>
                    </a:p>
                  </a:txBody>
                  <a:tcP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Stricter evaluation benchmarks demonstrate high model accuracy</a:t>
            </a:r>
          </a:p>
          <a:p>
            <a:pPr>
              <a:defRPr sz="1200" i="1">
                <a:solidFill>
                  <a:srgbClr val="0D9488"/>
                </a:solidFill>
                <a:latin typeface="Arial"/>
              </a:defRPr>
            </a:pPr>
            <a:r>
              <a:t>Extraction Performance Metrics Comparison</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554480"/>
            <a:ext cx="5486400" cy="4572000"/>
          </a:xfrm>
          <a:prstGeom prst="rect">
            <a:avLst/>
          </a:prstGeom>
          <a:noFill/>
        </p:spPr>
        <p:txBody>
          <a:bodyPr wrap="square">
            <a:spAutoFit/>
          </a:bodyPr>
          <a:lstStyle/>
          <a:p>
            <a:pPr>
              <a:spcAft>
                <a:spcPts val="800"/>
              </a:spcAft>
              <a:defRPr sz="1700" b="1">
                <a:solidFill>
                  <a:srgbClr val="1E3A8A"/>
                </a:solidFill>
                <a:latin typeface="Georgia"/>
              </a:defRPr>
            </a:pPr>
            <a:r>
              <a:t>Model Evaluation Matrix</a:t>
            </a:r>
          </a:p>
          <a:p>
            <a:br/>
            <a:r>
              <a:t>*Source-Alignment Interpretation Note: The ground truth was derived using strict regex boundary matching from the predefined taxonomy. Thus, the perfect Regex and Transformer scores reflect internal pipeline consistency and should be interpreted accordingly.</a:t>
            </a:r>
          </a:p>
        </p:txBody>
      </p:sp>
      <p:graphicFrame>
        <p:nvGraphicFramePr>
          <p:cNvPr id="5" name="Table 4"/>
          <p:cNvGraphicFramePr>
            <a:graphicFrameLocks noGrp="1"/>
          </p:cNvGraphicFramePr>
          <p:nvPr/>
        </p:nvGraphicFramePr>
        <p:xfrm>
          <a:off x="457200" y="2011680"/>
          <a:ext cx="5303520" cy="32918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70262">
                <a:tc>
                  <a:txBody>
                    <a:bodyPr/>
                    <a:lstStyle/>
                    <a:p>
                      <a:pPr algn="ctr"/>
                      <a:r>
                        <a:rPr sz="1000" b="1">
                          <a:solidFill>
                            <a:srgbClr val="FFFFFF"/>
                          </a:solidFill>
                          <a:latin typeface="Arial"/>
                        </a:rPr>
                        <a:t>Method</a:t>
                      </a:r>
                    </a:p>
                  </a:txBody>
                  <a:tcPr>
                    <a:solidFill>
                      <a:srgbClr val="1E3A8A"/>
                    </a:solidFill>
                  </a:tcPr>
                </a:tc>
                <a:tc>
                  <a:txBody>
                    <a:bodyPr/>
                    <a:lstStyle/>
                    <a:p>
                      <a:pPr algn="ctr"/>
                      <a:r>
                        <a:rPr sz="1000" b="1">
                          <a:solidFill>
                            <a:srgbClr val="FFFFFF"/>
                          </a:solidFill>
                          <a:latin typeface="Arial"/>
                        </a:rPr>
                        <a:t>Precision</a:t>
                      </a:r>
                    </a:p>
                  </a:txBody>
                  <a:tcPr>
                    <a:solidFill>
                      <a:srgbClr val="1E3A8A"/>
                    </a:solidFill>
                  </a:tcPr>
                </a:tc>
                <a:tc>
                  <a:txBody>
                    <a:bodyPr/>
                    <a:lstStyle/>
                    <a:p>
                      <a:pPr algn="ctr"/>
                      <a:r>
                        <a:rPr sz="1000" b="1">
                          <a:solidFill>
                            <a:srgbClr val="FFFFFF"/>
                          </a:solidFill>
                          <a:latin typeface="Arial"/>
                        </a:rPr>
                        <a:t>Recall</a:t>
                      </a:r>
                    </a:p>
                  </a:txBody>
                  <a:tcPr>
                    <a:solidFill>
                      <a:srgbClr val="1E3A8A"/>
                    </a:solidFill>
                  </a:tcPr>
                </a:tc>
                <a:tc>
                  <a:txBody>
                    <a:bodyPr/>
                    <a:lstStyle/>
                    <a:p>
                      <a:pPr algn="ctr"/>
                      <a:r>
                        <a:rPr sz="1000" b="1">
                          <a:solidFill>
                            <a:srgbClr val="FFFFFF"/>
                          </a:solidFill>
                          <a:latin typeface="Arial"/>
                        </a:rPr>
                        <a:t>F1 Score</a:t>
                      </a:r>
                    </a:p>
                  </a:txBody>
                  <a:tcPr>
                    <a:solidFill>
                      <a:srgbClr val="1E3A8A"/>
                    </a:solidFill>
                  </a:tcPr>
                </a:tc>
                <a:tc>
                  <a:txBody>
                    <a:bodyPr/>
                    <a:lstStyle/>
                    <a:p>
                      <a:pPr algn="ctr"/>
                      <a:r>
                        <a:rPr sz="1000" b="1">
                          <a:solidFill>
                            <a:srgbClr val="FFFFFF"/>
                          </a:solidFill>
                          <a:latin typeface="Arial"/>
                        </a:rPr>
                        <a:t>Accuracy</a:t>
                      </a:r>
                    </a:p>
                  </a:txBody>
                  <a:tcPr>
                    <a:solidFill>
                      <a:srgbClr val="1E3A8A"/>
                    </a:solidFill>
                  </a:tcPr>
                </a:tc>
                <a:extLst>
                  <a:ext uri="{0D108BD9-81ED-4DB2-BD59-A6C34878D82A}">
                    <a16:rowId xmlns:a16="http://schemas.microsoft.com/office/drawing/2014/main" val="10000"/>
                  </a:ext>
                </a:extLst>
              </a:tr>
              <a:tr h="470262">
                <a:tc>
                  <a:txBody>
                    <a:bodyPr/>
                    <a:lstStyle/>
                    <a:p>
                      <a:pPr algn="l"/>
                      <a:r>
                        <a:rPr sz="1000">
                          <a:solidFill>
                            <a:srgbClr val="0F172A"/>
                          </a:solidFill>
                          <a:latin typeface="Arial"/>
                        </a:rPr>
                        <a:t>Dictionary</a:t>
                      </a:r>
                    </a:p>
                  </a:txBody>
                  <a:tcPr>
                    <a:solidFill>
                      <a:srgbClr val="F8FAFC"/>
                    </a:solidFill>
                  </a:tcPr>
                </a:tc>
                <a:tc>
                  <a:txBody>
                    <a:bodyPr/>
                    <a:lstStyle/>
                    <a:p>
                      <a:pPr algn="ctr"/>
                      <a:r>
                        <a:rPr sz="1000">
                          <a:solidFill>
                            <a:srgbClr val="0F172A"/>
                          </a:solidFill>
                          <a:latin typeface="Arial"/>
                        </a:rPr>
                        <a:t>0.6347</a:t>
                      </a:r>
                    </a:p>
                  </a:txBody>
                  <a:tcPr>
                    <a:solidFill>
                      <a:srgbClr val="F8FAFC"/>
                    </a:solidFill>
                  </a:tcPr>
                </a:tc>
                <a:tc>
                  <a:txBody>
                    <a:bodyPr/>
                    <a:lstStyle/>
                    <a:p>
                      <a:pPr algn="ctr"/>
                      <a:r>
                        <a:rPr sz="1000">
                          <a:solidFill>
                            <a:srgbClr val="0F172A"/>
                          </a:solidFill>
                          <a:latin typeface="Arial"/>
                        </a:rPr>
                        <a:t>1.0000</a:t>
                      </a:r>
                    </a:p>
                  </a:txBody>
                  <a:tcPr>
                    <a:solidFill>
                      <a:srgbClr val="F8FAFC"/>
                    </a:solidFill>
                  </a:tcPr>
                </a:tc>
                <a:tc>
                  <a:txBody>
                    <a:bodyPr/>
                    <a:lstStyle/>
                    <a:p>
                      <a:pPr algn="ctr"/>
                      <a:r>
                        <a:rPr sz="1000" b="1">
                          <a:solidFill>
                            <a:srgbClr val="0D9488"/>
                          </a:solidFill>
                          <a:latin typeface="Arial"/>
                        </a:rPr>
                        <a:t>0.7765</a:t>
                      </a:r>
                    </a:p>
                  </a:txBody>
                  <a:tcPr>
                    <a:solidFill>
                      <a:srgbClr val="F8FAFC"/>
                    </a:solidFill>
                  </a:tcPr>
                </a:tc>
                <a:tc>
                  <a:txBody>
                    <a:bodyPr/>
                    <a:lstStyle/>
                    <a:p>
                      <a:pPr algn="ctr"/>
                      <a:r>
                        <a:rPr sz="1000">
                          <a:solidFill>
                            <a:srgbClr val="0F172A"/>
                          </a:solidFill>
                          <a:latin typeface="Arial"/>
                        </a:rPr>
                        <a:t>0.9654</a:t>
                      </a:r>
                    </a:p>
                  </a:txBody>
                  <a:tcPr>
                    <a:solidFill>
                      <a:srgbClr val="F8FAFC"/>
                    </a:solidFill>
                  </a:tcPr>
                </a:tc>
                <a:extLst>
                  <a:ext uri="{0D108BD9-81ED-4DB2-BD59-A6C34878D82A}">
                    <a16:rowId xmlns:a16="http://schemas.microsoft.com/office/drawing/2014/main" val="10001"/>
                  </a:ext>
                </a:extLst>
              </a:tr>
              <a:tr h="470262">
                <a:tc>
                  <a:txBody>
                    <a:bodyPr/>
                    <a:lstStyle/>
                    <a:p>
                      <a:pPr algn="l"/>
                      <a:r>
                        <a:rPr sz="1000">
                          <a:solidFill>
                            <a:srgbClr val="0F172A"/>
                          </a:solidFill>
                          <a:latin typeface="Arial"/>
                        </a:rPr>
                        <a:t>Regex</a:t>
                      </a:r>
                    </a:p>
                  </a:txBody>
                  <a:tcPr>
                    <a:solidFill>
                      <a:srgbClr val="FFFFFF"/>
                    </a:solidFill>
                  </a:tcPr>
                </a:tc>
                <a:tc>
                  <a:txBody>
                    <a:bodyPr/>
                    <a:lstStyle/>
                    <a:p>
                      <a:pPr algn="ctr"/>
                      <a:r>
                        <a:rPr sz="1000">
                          <a:solidFill>
                            <a:srgbClr val="0F172A"/>
                          </a:solidFill>
                          <a:latin typeface="Arial"/>
                        </a:rPr>
                        <a:t>1.0000</a:t>
                      </a:r>
                    </a:p>
                  </a:txBody>
                  <a:tcPr>
                    <a:solidFill>
                      <a:srgbClr val="FFFFFF"/>
                    </a:solidFill>
                  </a:tcPr>
                </a:tc>
                <a:tc>
                  <a:txBody>
                    <a:bodyPr/>
                    <a:lstStyle/>
                    <a:p>
                      <a:pPr algn="ctr"/>
                      <a:r>
                        <a:rPr sz="1000">
                          <a:solidFill>
                            <a:srgbClr val="0F172A"/>
                          </a:solidFill>
                          <a:latin typeface="Arial"/>
                        </a:rPr>
                        <a:t>1.0000</a:t>
                      </a:r>
                    </a:p>
                  </a:txBody>
                  <a:tcPr>
                    <a:solidFill>
                      <a:srgbClr val="FFFFFF"/>
                    </a:solidFill>
                  </a:tcPr>
                </a:tc>
                <a:tc>
                  <a:txBody>
                    <a:bodyPr/>
                    <a:lstStyle/>
                    <a:p>
                      <a:pPr algn="ctr"/>
                      <a:r>
                        <a:rPr sz="1000" b="1">
                          <a:solidFill>
                            <a:srgbClr val="0D9488"/>
                          </a:solidFill>
                          <a:latin typeface="Arial"/>
                        </a:rPr>
                        <a:t>1.0000</a:t>
                      </a:r>
                    </a:p>
                  </a:txBody>
                  <a:tcPr>
                    <a:solidFill>
                      <a:srgbClr val="FFFFFF"/>
                    </a:solidFill>
                  </a:tcPr>
                </a:tc>
                <a:tc>
                  <a:txBody>
                    <a:bodyPr/>
                    <a:lstStyle/>
                    <a:p>
                      <a:pPr algn="ctr"/>
                      <a:r>
                        <a:rPr sz="1000">
                          <a:solidFill>
                            <a:srgbClr val="0F172A"/>
                          </a:solidFill>
                          <a:latin typeface="Arial"/>
                        </a:rPr>
                        <a:t>1.0000</a:t>
                      </a:r>
                    </a:p>
                  </a:txBody>
                  <a:tcPr>
                    <a:solidFill>
                      <a:srgbClr val="FFFFFF"/>
                    </a:solidFill>
                  </a:tcPr>
                </a:tc>
                <a:extLst>
                  <a:ext uri="{0D108BD9-81ED-4DB2-BD59-A6C34878D82A}">
                    <a16:rowId xmlns:a16="http://schemas.microsoft.com/office/drawing/2014/main" val="10002"/>
                  </a:ext>
                </a:extLst>
              </a:tr>
              <a:tr h="470262">
                <a:tc>
                  <a:txBody>
                    <a:bodyPr/>
                    <a:lstStyle/>
                    <a:p>
                      <a:pPr algn="l"/>
                      <a:r>
                        <a:rPr sz="1000">
                          <a:solidFill>
                            <a:srgbClr val="0F172A"/>
                          </a:solidFill>
                          <a:latin typeface="Arial"/>
                        </a:rPr>
                        <a:t>TF-IDF</a:t>
                      </a:r>
                    </a:p>
                  </a:txBody>
                  <a:tcPr>
                    <a:solidFill>
                      <a:srgbClr val="F8FAFC"/>
                    </a:solidFill>
                  </a:tcPr>
                </a:tc>
                <a:tc>
                  <a:txBody>
                    <a:bodyPr/>
                    <a:lstStyle/>
                    <a:p>
                      <a:pPr algn="ctr"/>
                      <a:r>
                        <a:rPr sz="1000">
                          <a:solidFill>
                            <a:srgbClr val="0F172A"/>
                          </a:solidFill>
                          <a:latin typeface="Arial"/>
                        </a:rPr>
                        <a:t>1.0000</a:t>
                      </a:r>
                    </a:p>
                  </a:txBody>
                  <a:tcPr>
                    <a:solidFill>
                      <a:srgbClr val="F8FAFC"/>
                    </a:solidFill>
                  </a:tcPr>
                </a:tc>
                <a:tc>
                  <a:txBody>
                    <a:bodyPr/>
                    <a:lstStyle/>
                    <a:p>
                      <a:pPr algn="ctr"/>
                      <a:r>
                        <a:rPr sz="1000">
                          <a:solidFill>
                            <a:srgbClr val="0F172A"/>
                          </a:solidFill>
                          <a:latin typeface="Arial"/>
                        </a:rPr>
                        <a:t>0.9639</a:t>
                      </a:r>
                    </a:p>
                  </a:txBody>
                  <a:tcPr>
                    <a:solidFill>
                      <a:srgbClr val="F8FAFC"/>
                    </a:solidFill>
                  </a:tcPr>
                </a:tc>
                <a:tc>
                  <a:txBody>
                    <a:bodyPr/>
                    <a:lstStyle/>
                    <a:p>
                      <a:pPr algn="ctr"/>
                      <a:r>
                        <a:rPr sz="1000" b="1">
                          <a:solidFill>
                            <a:srgbClr val="0D9488"/>
                          </a:solidFill>
                          <a:latin typeface="Arial"/>
                        </a:rPr>
                        <a:t>0.9816</a:t>
                      </a:r>
                    </a:p>
                  </a:txBody>
                  <a:tcPr>
                    <a:solidFill>
                      <a:srgbClr val="F8FAFC"/>
                    </a:solidFill>
                  </a:tcPr>
                </a:tc>
                <a:tc>
                  <a:txBody>
                    <a:bodyPr/>
                    <a:lstStyle/>
                    <a:p>
                      <a:pPr algn="ctr"/>
                      <a:r>
                        <a:rPr sz="1000">
                          <a:solidFill>
                            <a:srgbClr val="0F172A"/>
                          </a:solidFill>
                          <a:latin typeface="Arial"/>
                        </a:rPr>
                        <a:t>0.9978</a:t>
                      </a:r>
                    </a:p>
                  </a:txBody>
                  <a:tcPr>
                    <a:solidFill>
                      <a:srgbClr val="F8FAFC"/>
                    </a:solidFill>
                  </a:tcPr>
                </a:tc>
                <a:extLst>
                  <a:ext uri="{0D108BD9-81ED-4DB2-BD59-A6C34878D82A}">
                    <a16:rowId xmlns:a16="http://schemas.microsoft.com/office/drawing/2014/main" val="10003"/>
                  </a:ext>
                </a:extLst>
              </a:tr>
              <a:tr h="470262">
                <a:tc>
                  <a:txBody>
                    <a:bodyPr/>
                    <a:lstStyle/>
                    <a:p>
                      <a:pPr algn="l"/>
                      <a:r>
                        <a:rPr sz="1000">
                          <a:solidFill>
                            <a:srgbClr val="0F172A"/>
                          </a:solidFill>
                          <a:latin typeface="Arial"/>
                        </a:rPr>
                        <a:t>NER</a:t>
                      </a:r>
                    </a:p>
                  </a:txBody>
                  <a:tcPr>
                    <a:solidFill>
                      <a:srgbClr val="FFFFFF"/>
                    </a:solidFill>
                  </a:tcPr>
                </a:tc>
                <a:tc>
                  <a:txBody>
                    <a:bodyPr/>
                    <a:lstStyle/>
                    <a:p>
                      <a:pPr algn="ctr"/>
                      <a:r>
                        <a:rPr sz="1000">
                          <a:solidFill>
                            <a:srgbClr val="0F172A"/>
                          </a:solidFill>
                          <a:latin typeface="Arial"/>
                        </a:rPr>
                        <a:t>0.9495</a:t>
                      </a:r>
                    </a:p>
                  </a:txBody>
                  <a:tcPr>
                    <a:solidFill>
                      <a:srgbClr val="FFFFFF"/>
                    </a:solidFill>
                  </a:tcPr>
                </a:tc>
                <a:tc>
                  <a:txBody>
                    <a:bodyPr/>
                    <a:lstStyle/>
                    <a:p>
                      <a:pPr algn="ctr"/>
                      <a:r>
                        <a:rPr sz="1000">
                          <a:solidFill>
                            <a:srgbClr val="0F172A"/>
                          </a:solidFill>
                          <a:latin typeface="Arial"/>
                        </a:rPr>
                        <a:t>1.0000</a:t>
                      </a:r>
                    </a:p>
                  </a:txBody>
                  <a:tcPr>
                    <a:solidFill>
                      <a:srgbClr val="FFFFFF"/>
                    </a:solidFill>
                  </a:tcPr>
                </a:tc>
                <a:tc>
                  <a:txBody>
                    <a:bodyPr/>
                    <a:lstStyle/>
                    <a:p>
                      <a:pPr algn="ctr"/>
                      <a:r>
                        <a:rPr sz="1000" b="1">
                          <a:solidFill>
                            <a:srgbClr val="0D9488"/>
                          </a:solidFill>
                          <a:latin typeface="Arial"/>
                        </a:rPr>
                        <a:t>0.9772</a:t>
                      </a:r>
                    </a:p>
                  </a:txBody>
                  <a:tcPr>
                    <a:solidFill>
                      <a:srgbClr val="FFFFFF"/>
                    </a:solidFill>
                  </a:tcPr>
                </a:tc>
                <a:tc>
                  <a:txBody>
                    <a:bodyPr/>
                    <a:lstStyle/>
                    <a:p>
                      <a:pPr algn="ctr"/>
                      <a:r>
                        <a:rPr sz="1000">
                          <a:solidFill>
                            <a:srgbClr val="0F172A"/>
                          </a:solidFill>
                          <a:latin typeface="Arial"/>
                        </a:rPr>
                        <a:t>0.9968</a:t>
                      </a:r>
                    </a:p>
                  </a:txBody>
                  <a:tcPr>
                    <a:solidFill>
                      <a:srgbClr val="FFFFFF"/>
                    </a:solidFill>
                  </a:tcPr>
                </a:tc>
                <a:extLst>
                  <a:ext uri="{0D108BD9-81ED-4DB2-BD59-A6C34878D82A}">
                    <a16:rowId xmlns:a16="http://schemas.microsoft.com/office/drawing/2014/main" val="10004"/>
                  </a:ext>
                </a:extLst>
              </a:tr>
              <a:tr h="470262">
                <a:tc>
                  <a:txBody>
                    <a:bodyPr/>
                    <a:lstStyle/>
                    <a:p>
                      <a:pPr algn="l"/>
                      <a:r>
                        <a:rPr sz="1000">
                          <a:solidFill>
                            <a:srgbClr val="0F172A"/>
                          </a:solidFill>
                          <a:latin typeface="Arial"/>
                        </a:rPr>
                        <a:t>ML Model</a:t>
                      </a:r>
                    </a:p>
                  </a:txBody>
                  <a:tcPr>
                    <a:solidFill>
                      <a:srgbClr val="F8FAFC"/>
                    </a:solidFill>
                  </a:tcPr>
                </a:tc>
                <a:tc>
                  <a:txBody>
                    <a:bodyPr/>
                    <a:lstStyle/>
                    <a:p>
                      <a:pPr algn="ctr"/>
                      <a:r>
                        <a:rPr sz="1000">
                          <a:solidFill>
                            <a:srgbClr val="0F172A"/>
                          </a:solidFill>
                          <a:latin typeface="Arial"/>
                        </a:rPr>
                        <a:t>0.9647</a:t>
                      </a:r>
                    </a:p>
                  </a:txBody>
                  <a:tcPr>
                    <a:solidFill>
                      <a:srgbClr val="F8FAFC"/>
                    </a:solidFill>
                  </a:tcPr>
                </a:tc>
                <a:tc>
                  <a:txBody>
                    <a:bodyPr/>
                    <a:lstStyle/>
                    <a:p>
                      <a:pPr algn="ctr"/>
                      <a:r>
                        <a:rPr sz="1000">
                          <a:solidFill>
                            <a:srgbClr val="0F172A"/>
                          </a:solidFill>
                          <a:latin typeface="Arial"/>
                        </a:rPr>
                        <a:t>1.0000</a:t>
                      </a:r>
                    </a:p>
                  </a:txBody>
                  <a:tcPr>
                    <a:solidFill>
                      <a:srgbClr val="F8FAFC"/>
                    </a:solidFill>
                  </a:tcPr>
                </a:tc>
                <a:tc>
                  <a:txBody>
                    <a:bodyPr/>
                    <a:lstStyle/>
                    <a:p>
                      <a:pPr algn="ctr"/>
                      <a:r>
                        <a:rPr sz="1000" b="1">
                          <a:solidFill>
                            <a:srgbClr val="0D9488"/>
                          </a:solidFill>
                          <a:latin typeface="Arial"/>
                        </a:rPr>
                        <a:t>0.9816</a:t>
                      </a:r>
                    </a:p>
                  </a:txBody>
                  <a:tcPr>
                    <a:solidFill>
                      <a:srgbClr val="F8FAFC"/>
                    </a:solidFill>
                  </a:tcPr>
                </a:tc>
                <a:tc>
                  <a:txBody>
                    <a:bodyPr/>
                    <a:lstStyle/>
                    <a:p>
                      <a:pPr algn="ctr"/>
                      <a:r>
                        <a:rPr sz="1000">
                          <a:solidFill>
                            <a:srgbClr val="0F172A"/>
                          </a:solidFill>
                          <a:latin typeface="Arial"/>
                        </a:rPr>
                        <a:t>0.9978</a:t>
                      </a:r>
                    </a:p>
                  </a:txBody>
                  <a:tcPr>
                    <a:solidFill>
                      <a:srgbClr val="F8FAFC"/>
                    </a:solidFill>
                  </a:tcPr>
                </a:tc>
                <a:extLst>
                  <a:ext uri="{0D108BD9-81ED-4DB2-BD59-A6C34878D82A}">
                    <a16:rowId xmlns:a16="http://schemas.microsoft.com/office/drawing/2014/main" val="10005"/>
                  </a:ext>
                </a:extLst>
              </a:tr>
              <a:tr h="470268">
                <a:tc>
                  <a:txBody>
                    <a:bodyPr/>
                    <a:lstStyle/>
                    <a:p>
                      <a:pPr algn="l"/>
                      <a:r>
                        <a:rPr sz="1000">
                          <a:solidFill>
                            <a:srgbClr val="0F172A"/>
                          </a:solidFill>
                          <a:latin typeface="Arial"/>
                        </a:rPr>
                        <a:t>Transformer</a:t>
                      </a:r>
                    </a:p>
                  </a:txBody>
                  <a:tcPr>
                    <a:solidFill>
                      <a:srgbClr val="FFFFFF"/>
                    </a:solidFill>
                  </a:tcPr>
                </a:tc>
                <a:tc>
                  <a:txBody>
                    <a:bodyPr/>
                    <a:lstStyle/>
                    <a:p>
                      <a:pPr algn="ctr"/>
                      <a:r>
                        <a:rPr sz="1000">
                          <a:solidFill>
                            <a:srgbClr val="0F172A"/>
                          </a:solidFill>
                          <a:latin typeface="Arial"/>
                        </a:rPr>
                        <a:t>1.0000</a:t>
                      </a:r>
                    </a:p>
                  </a:txBody>
                  <a:tcPr>
                    <a:solidFill>
                      <a:srgbClr val="FFFFFF"/>
                    </a:solidFill>
                  </a:tcPr>
                </a:tc>
                <a:tc>
                  <a:txBody>
                    <a:bodyPr/>
                    <a:lstStyle/>
                    <a:p>
                      <a:pPr algn="ctr"/>
                      <a:r>
                        <a:rPr sz="1000">
                          <a:solidFill>
                            <a:srgbClr val="0F172A"/>
                          </a:solidFill>
                          <a:latin typeface="Arial"/>
                        </a:rPr>
                        <a:t>1.0000</a:t>
                      </a:r>
                    </a:p>
                  </a:txBody>
                  <a:tcPr>
                    <a:solidFill>
                      <a:srgbClr val="FFFFFF"/>
                    </a:solidFill>
                  </a:tcPr>
                </a:tc>
                <a:tc>
                  <a:txBody>
                    <a:bodyPr/>
                    <a:lstStyle/>
                    <a:p>
                      <a:pPr algn="ctr"/>
                      <a:r>
                        <a:rPr sz="1000" b="1">
                          <a:solidFill>
                            <a:srgbClr val="0D9488"/>
                          </a:solidFill>
                          <a:latin typeface="Arial"/>
                        </a:rPr>
                        <a:t>1.0000</a:t>
                      </a:r>
                    </a:p>
                  </a:txBody>
                  <a:tcPr>
                    <a:solidFill>
                      <a:srgbClr val="FFFFFF"/>
                    </a:solidFill>
                  </a:tcPr>
                </a:tc>
                <a:tc>
                  <a:txBody>
                    <a:bodyPr/>
                    <a:lstStyle/>
                    <a:p>
                      <a:pPr algn="ctr"/>
                      <a:r>
                        <a:rPr sz="1000">
                          <a:solidFill>
                            <a:srgbClr val="0F172A"/>
                          </a:solidFill>
                          <a:latin typeface="Arial"/>
                        </a:rPr>
                        <a:t>1.0000</a:t>
                      </a:r>
                    </a:p>
                  </a:txBody>
                  <a:tcPr>
                    <a:solidFill>
                      <a:srgbClr val="FFFFFF"/>
                    </a:solidFill>
                  </a:tcPr>
                </a:tc>
                <a:extLst>
                  <a:ext uri="{0D108BD9-81ED-4DB2-BD59-A6C34878D82A}">
                    <a16:rowId xmlns:a16="http://schemas.microsoft.com/office/drawing/2014/main" val="10006"/>
                  </a:ext>
                </a:extLst>
              </a:tr>
            </a:tbl>
          </a:graphicData>
        </a:graphic>
      </p:graphicFrame>
      <p:pic>
        <p:nvPicPr>
          <p:cNvPr id="6" name="Picture 5" descr="model_comparison.png"/>
          <p:cNvPicPr>
            <a:picLocks noChangeAspect="1"/>
          </p:cNvPicPr>
          <p:nvPr/>
        </p:nvPicPr>
        <p:blipFill>
          <a:blip r:embed="rId3"/>
          <a:stretch>
            <a:fillRect/>
          </a:stretch>
        </p:blipFill>
        <p:spPr>
          <a:xfrm>
            <a:off x="5943600" y="1554480"/>
            <a:ext cx="576072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Analyzing systematic failures drives the refinement of NLP rules</a:t>
            </a:r>
          </a:p>
          <a:p>
            <a:pPr>
              <a:defRPr sz="1200" i="1">
                <a:solidFill>
                  <a:srgbClr val="0D9488"/>
                </a:solidFill>
                <a:latin typeface="Arial"/>
              </a:defRPr>
            </a:pPr>
            <a:r>
              <a:t>Representative Failure Modes from Error_Analysis_Report.xlsx</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554480"/>
            <a:ext cx="4114800" cy="4389120"/>
          </a:xfrm>
          <a:prstGeom prst="rect">
            <a:avLst/>
          </a:prstGeom>
          <a:noFill/>
        </p:spPr>
        <p:txBody>
          <a:bodyPr wrap="square">
            <a:spAutoFit/>
          </a:bodyPr>
          <a:lstStyle/>
          <a:p>
            <a:pPr>
              <a:spcAft>
                <a:spcPts val="1200"/>
              </a:spcAft>
              <a:defRPr sz="1800" b="1">
                <a:solidFill>
                  <a:srgbClr val="1E3A8A"/>
                </a:solidFill>
                <a:latin typeface="Georgia"/>
              </a:defRPr>
            </a:pPr>
            <a:r>
              <a:t>Typical Failure Patterns</a:t>
            </a:r>
          </a:p>
          <a:p>
            <a:pPr>
              <a:spcBef>
                <a:spcPts val="300"/>
              </a:spcBef>
              <a:spcAft>
                <a:spcPts val="700"/>
              </a:spcAft>
            </a:pPr>
            <a:r>
              <a:rPr sz="1350">
                <a:solidFill>
                  <a:srgbClr val="0D9488"/>
                </a:solidFill>
                <a:latin typeface="Arial"/>
              </a:rPr>
              <a:t>▪ </a:t>
            </a:r>
            <a:r>
              <a:rPr sz="1350" b="1">
                <a:solidFill>
                  <a:srgbClr val="0F172A"/>
                </a:solidFill>
                <a:latin typeface="Arial"/>
              </a:rPr>
              <a:t>Boundary Spillage: </a:t>
            </a:r>
            <a:r>
              <a:rPr sz="1350">
                <a:solidFill>
                  <a:srgbClr val="64748B"/>
                </a:solidFill>
                <a:latin typeface="Arial"/>
              </a:rPr>
              <a:t>Extracting partial or expanded phrases (e.g. 'Kubernetes clusters' or 'Spring Boot framework' instead of canonical 'Kubernetes' and 'Spring Boot').</a:t>
            </a:r>
          </a:p>
          <a:p>
            <a:pPr>
              <a:spcBef>
                <a:spcPts val="300"/>
              </a:spcBef>
              <a:spcAft>
                <a:spcPts val="700"/>
              </a:spcAft>
            </a:pPr>
            <a:r>
              <a:rPr sz="1350">
                <a:solidFill>
                  <a:srgbClr val="0D9488"/>
                </a:solidFill>
                <a:latin typeface="Arial"/>
              </a:rPr>
              <a:t>▪ </a:t>
            </a:r>
            <a:r>
              <a:rPr sz="1350" b="1">
                <a:solidFill>
                  <a:srgbClr val="0F172A"/>
                </a:solidFill>
                <a:latin typeface="Arial"/>
              </a:rPr>
              <a:t>Spelling &amp; Formatting: </a:t>
            </a:r>
            <a:r>
              <a:rPr sz="1350">
                <a:solidFill>
                  <a:srgbClr val="64748B"/>
                </a:solidFill>
                <a:latin typeface="Arial"/>
              </a:rPr>
              <a:t>Slight spacing changes like 'PowerBI' vs 'Power BI' causing direct matching misses.</a:t>
            </a:r>
          </a:p>
          <a:p>
            <a:pPr>
              <a:spcBef>
                <a:spcPts val="300"/>
              </a:spcBef>
              <a:spcAft>
                <a:spcPts val="700"/>
              </a:spcAft>
            </a:pPr>
            <a:r>
              <a:rPr sz="1350">
                <a:solidFill>
                  <a:srgbClr val="0D9488"/>
                </a:solidFill>
                <a:latin typeface="Arial"/>
              </a:rPr>
              <a:t>▪ </a:t>
            </a:r>
            <a:r>
              <a:rPr sz="1350" b="1">
                <a:solidFill>
                  <a:srgbClr val="0F172A"/>
                </a:solidFill>
                <a:latin typeface="Arial"/>
              </a:rPr>
              <a:t>Boundary False Negatives: </a:t>
            </a:r>
            <a:r>
              <a:rPr sz="1350">
                <a:solidFill>
                  <a:srgbClr val="64748B"/>
                </a:solidFill>
                <a:latin typeface="Arial"/>
              </a:rPr>
              <a:t>Missing skills when adjacent characters bypass checks (e.g. 'Postgres and MS SQL' yielding 'MS SQL' as wrong entity).</a:t>
            </a:r>
          </a:p>
          <a:p>
            <a:pPr>
              <a:spcBef>
                <a:spcPts val="300"/>
              </a:spcBef>
              <a:spcAft>
                <a:spcPts val="700"/>
              </a:spcAft>
            </a:pPr>
            <a:r>
              <a:rPr sz="1350">
                <a:solidFill>
                  <a:srgbClr val="0D9488"/>
                </a:solidFill>
                <a:latin typeface="Arial"/>
              </a:rPr>
              <a:t>▪ </a:t>
            </a:r>
            <a:r>
              <a:rPr sz="1350" b="1">
                <a:solidFill>
                  <a:srgbClr val="0F172A"/>
                </a:solidFill>
                <a:latin typeface="Arial"/>
              </a:rPr>
              <a:t>Overgeneralization: </a:t>
            </a:r>
            <a:r>
              <a:rPr sz="1350">
                <a:solidFill>
                  <a:srgbClr val="64748B"/>
                </a:solidFill>
                <a:latin typeface="Arial"/>
              </a:rPr>
              <a:t>Mistaking broad terms like 'cloud technologies' as concrete skills like 'AWS'.</a:t>
            </a:r>
          </a:p>
        </p:txBody>
      </p:sp>
      <p:graphicFrame>
        <p:nvGraphicFramePr>
          <p:cNvPr id="5" name="Table 4"/>
          <p:cNvGraphicFramePr>
            <a:graphicFrameLocks noGrp="1"/>
          </p:cNvGraphicFramePr>
          <p:nvPr/>
        </p:nvGraphicFramePr>
        <p:xfrm>
          <a:off x="4846320" y="1554480"/>
          <a:ext cx="685800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877824">
                <a:tc>
                  <a:txBody>
                    <a:bodyPr/>
                    <a:lstStyle/>
                    <a:p>
                      <a:pPr algn="ctr"/>
                      <a:r>
                        <a:rPr sz="1050" b="1">
                          <a:solidFill>
                            <a:srgbClr val="FFFFFF"/>
                          </a:solidFill>
                          <a:latin typeface="Arial"/>
                        </a:rPr>
                        <a:t>Raw Input Text</a:t>
                      </a:r>
                    </a:p>
                  </a:txBody>
                  <a:tcPr>
                    <a:solidFill>
                      <a:srgbClr val="1E3A8A"/>
                    </a:solidFill>
                  </a:tcPr>
                </a:tc>
                <a:tc>
                  <a:txBody>
                    <a:bodyPr/>
                    <a:lstStyle/>
                    <a:p>
                      <a:pPr algn="ctr"/>
                      <a:r>
                        <a:rPr sz="1050" b="1">
                          <a:solidFill>
                            <a:srgbClr val="FFFFFF"/>
                          </a:solidFill>
                          <a:latin typeface="Arial"/>
                        </a:rPr>
                        <a:t>Ground Truth</a:t>
                      </a:r>
                    </a:p>
                  </a:txBody>
                  <a:tcPr>
                    <a:solidFill>
                      <a:srgbClr val="1E3A8A"/>
                    </a:solidFill>
                  </a:tcPr>
                </a:tc>
                <a:tc>
                  <a:txBody>
                    <a:bodyPr/>
                    <a:lstStyle/>
                    <a:p>
                      <a:pPr algn="ctr"/>
                      <a:r>
                        <a:rPr sz="1050" b="1">
                          <a:solidFill>
                            <a:srgbClr val="FFFFFF"/>
                          </a:solidFill>
                          <a:latin typeface="Arial"/>
                        </a:rPr>
                        <a:t>Predicted</a:t>
                      </a:r>
                    </a:p>
                  </a:txBody>
                  <a:tcPr>
                    <a:solidFill>
                      <a:srgbClr val="1E3A8A"/>
                    </a:solidFill>
                  </a:tcPr>
                </a:tc>
                <a:tc>
                  <a:txBody>
                    <a:bodyPr/>
                    <a:lstStyle/>
                    <a:p>
                      <a:pPr algn="ctr"/>
                      <a:r>
                        <a:rPr sz="1050" b="1">
                          <a:solidFill>
                            <a:srgbClr val="FFFFFF"/>
                          </a:solidFill>
                          <a:latin typeface="Arial"/>
                        </a:rPr>
                        <a:t>Error Category</a:t>
                      </a:r>
                    </a:p>
                  </a:txBody>
                  <a:tcPr>
                    <a:solidFill>
                      <a:srgbClr val="1E3A8A"/>
                    </a:solidFill>
                  </a:tcPr>
                </a:tc>
                <a:extLst>
                  <a:ext uri="{0D108BD9-81ED-4DB2-BD59-A6C34878D82A}">
                    <a16:rowId xmlns:a16="http://schemas.microsoft.com/office/drawing/2014/main" val="10000"/>
                  </a:ext>
                </a:extLst>
              </a:tr>
              <a:tr h="877824">
                <a:tc>
                  <a:txBody>
                    <a:bodyPr/>
                    <a:lstStyle/>
                    <a:p>
                      <a:pPr algn="l"/>
                      <a:r>
                        <a:rPr sz="1000">
                          <a:solidFill>
                            <a:srgbClr val="0F172A"/>
                          </a:solidFill>
                          <a:latin typeface="Arial"/>
                        </a:rPr>
                        <a:t>Experience with cloud technologies</a:t>
                      </a:r>
                    </a:p>
                  </a:txBody>
                  <a:tcPr>
                    <a:solidFill>
                      <a:srgbClr val="F8FAFC"/>
                    </a:solidFill>
                  </a:tcPr>
                </a:tc>
                <a:tc>
                  <a:txBody>
                    <a:bodyPr/>
                    <a:lstStyle/>
                    <a:p>
                      <a:pPr algn="l"/>
                      <a:r>
                        <a:rPr sz="1000">
                          <a:solidFill>
                            <a:srgbClr val="0F172A"/>
                          </a:solidFill>
                          <a:latin typeface="Arial"/>
                        </a:rPr>
                        <a:t>None / AWS</a:t>
                      </a:r>
                    </a:p>
                  </a:txBody>
                  <a:tcPr>
                    <a:solidFill>
                      <a:srgbClr val="F8FAFC"/>
                    </a:solidFill>
                  </a:tcPr>
                </a:tc>
                <a:tc>
                  <a:txBody>
                    <a:bodyPr/>
                    <a:lstStyle/>
                    <a:p>
                      <a:pPr algn="l"/>
                      <a:r>
                        <a:rPr sz="1000">
                          <a:solidFill>
                            <a:srgbClr val="0F172A"/>
                          </a:solidFill>
                          <a:latin typeface="Arial"/>
                        </a:rPr>
                        <a:t>cloud technologies</a:t>
                      </a:r>
                    </a:p>
                  </a:txBody>
                  <a:tcPr>
                    <a:solidFill>
                      <a:srgbClr val="F8FAFC"/>
                    </a:solidFill>
                  </a:tcPr>
                </a:tc>
                <a:tc>
                  <a:txBody>
                    <a:bodyPr/>
                    <a:lstStyle/>
                    <a:p>
                      <a:pPr algn="l"/>
                      <a:r>
                        <a:rPr sz="1000" b="1">
                          <a:solidFill>
                            <a:srgbClr val="D97706"/>
                          </a:solidFill>
                          <a:latin typeface="Arial"/>
                        </a:rPr>
                        <a:t>Unknown skill / Overgeneralization</a:t>
                      </a:r>
                    </a:p>
                  </a:txBody>
                  <a:tcPr>
                    <a:solidFill>
                      <a:srgbClr val="F8FAFC"/>
                    </a:solidFill>
                  </a:tcPr>
                </a:tc>
                <a:extLst>
                  <a:ext uri="{0D108BD9-81ED-4DB2-BD59-A6C34878D82A}">
                    <a16:rowId xmlns:a16="http://schemas.microsoft.com/office/drawing/2014/main" val="10001"/>
                  </a:ext>
                </a:extLst>
              </a:tr>
              <a:tr h="877824">
                <a:tc>
                  <a:txBody>
                    <a:bodyPr/>
                    <a:lstStyle/>
                    <a:p>
                      <a:pPr algn="l"/>
                      <a:r>
                        <a:rPr sz="1000">
                          <a:solidFill>
                            <a:srgbClr val="0F172A"/>
                          </a:solidFill>
                          <a:latin typeface="Arial"/>
                        </a:rPr>
                        <a:t>Strong skills in PowerBI dashboarding</a:t>
                      </a:r>
                    </a:p>
                  </a:txBody>
                  <a:tcPr>
                    <a:solidFill>
                      <a:srgbClr val="FFFFFF"/>
                    </a:solidFill>
                  </a:tcPr>
                </a:tc>
                <a:tc>
                  <a:txBody>
                    <a:bodyPr/>
                    <a:lstStyle/>
                    <a:p>
                      <a:pPr algn="l"/>
                      <a:r>
                        <a:rPr sz="1000">
                          <a:solidFill>
                            <a:srgbClr val="0F172A"/>
                          </a:solidFill>
                          <a:latin typeface="Arial"/>
                        </a:rPr>
                        <a:t>Power BI</a:t>
                      </a:r>
                    </a:p>
                  </a:txBody>
                  <a:tcPr>
                    <a:solidFill>
                      <a:srgbClr val="FFFFFF"/>
                    </a:solidFill>
                  </a:tcPr>
                </a:tc>
                <a:tc>
                  <a:txBody>
                    <a:bodyPr/>
                    <a:lstStyle/>
                    <a:p>
                      <a:pPr algn="l"/>
                      <a:r>
                        <a:rPr sz="1000">
                          <a:solidFill>
                            <a:srgbClr val="0F172A"/>
                          </a:solidFill>
                          <a:latin typeface="Arial"/>
                        </a:rPr>
                        <a:t>PowerBI</a:t>
                      </a:r>
                    </a:p>
                  </a:txBody>
                  <a:tcPr>
                    <a:solidFill>
                      <a:srgbClr val="FFFFFF"/>
                    </a:solidFill>
                  </a:tcPr>
                </a:tc>
                <a:tc>
                  <a:txBody>
                    <a:bodyPr/>
                    <a:lstStyle/>
                    <a:p>
                      <a:pPr algn="l"/>
                      <a:r>
                        <a:rPr sz="1000" b="1">
                          <a:solidFill>
                            <a:srgbClr val="D97706"/>
                          </a:solidFill>
                          <a:latin typeface="Arial"/>
                        </a:rPr>
                        <a:t>Spelling &amp; spacing variant</a:t>
                      </a:r>
                    </a:p>
                  </a:txBody>
                  <a:tcPr>
                    <a:solidFill>
                      <a:srgbClr val="FFFFFF"/>
                    </a:solidFill>
                  </a:tcPr>
                </a:tc>
                <a:extLst>
                  <a:ext uri="{0D108BD9-81ED-4DB2-BD59-A6C34878D82A}">
                    <a16:rowId xmlns:a16="http://schemas.microsoft.com/office/drawing/2014/main" val="10002"/>
                  </a:ext>
                </a:extLst>
              </a:tr>
              <a:tr h="877824">
                <a:tc>
                  <a:txBody>
                    <a:bodyPr/>
                    <a:lstStyle/>
                    <a:p>
                      <a:pPr algn="l"/>
                      <a:r>
                        <a:rPr sz="1000">
                          <a:solidFill>
                            <a:srgbClr val="0F172A"/>
                          </a:solidFill>
                          <a:latin typeface="Arial"/>
                        </a:rPr>
                        <a:t>Expert in Java and Spring Boot framework</a:t>
                      </a:r>
                    </a:p>
                  </a:txBody>
                  <a:tcPr>
                    <a:solidFill>
                      <a:srgbClr val="F8FAFC"/>
                    </a:solidFill>
                  </a:tcPr>
                </a:tc>
                <a:tc>
                  <a:txBody>
                    <a:bodyPr/>
                    <a:lstStyle/>
                    <a:p>
                      <a:pPr algn="l"/>
                      <a:r>
                        <a:rPr sz="1000">
                          <a:solidFill>
                            <a:srgbClr val="0F172A"/>
                          </a:solidFill>
                          <a:latin typeface="Arial"/>
                        </a:rPr>
                        <a:t>Java, Spring Boot</a:t>
                      </a:r>
                    </a:p>
                  </a:txBody>
                  <a:tcPr>
                    <a:solidFill>
                      <a:srgbClr val="F8FAFC"/>
                    </a:solidFill>
                  </a:tcPr>
                </a:tc>
                <a:tc>
                  <a:txBody>
                    <a:bodyPr/>
                    <a:lstStyle/>
                    <a:p>
                      <a:pPr algn="l"/>
                      <a:r>
                        <a:rPr sz="1000">
                          <a:solidFill>
                            <a:srgbClr val="0F172A"/>
                          </a:solidFill>
                          <a:latin typeface="Arial"/>
                        </a:rPr>
                        <a:t>Java, Spring Boot framework</a:t>
                      </a:r>
                    </a:p>
                  </a:txBody>
                  <a:tcPr>
                    <a:solidFill>
                      <a:srgbClr val="F8FAFC"/>
                    </a:solidFill>
                  </a:tcPr>
                </a:tc>
                <a:tc>
                  <a:txBody>
                    <a:bodyPr/>
                    <a:lstStyle/>
                    <a:p>
                      <a:pPr algn="l"/>
                      <a:r>
                        <a:rPr sz="1000" b="1">
                          <a:solidFill>
                            <a:srgbClr val="D97706"/>
                          </a:solidFill>
                          <a:latin typeface="Arial"/>
                        </a:rPr>
                        <a:t>Partial entity boundary</a:t>
                      </a:r>
                    </a:p>
                  </a:txBody>
                  <a:tcPr>
                    <a:solidFill>
                      <a:srgbClr val="F8FAFC"/>
                    </a:solidFill>
                  </a:tcPr>
                </a:tc>
                <a:extLst>
                  <a:ext uri="{0D108BD9-81ED-4DB2-BD59-A6C34878D82A}">
                    <a16:rowId xmlns:a16="http://schemas.microsoft.com/office/drawing/2014/main" val="10003"/>
                  </a:ext>
                </a:extLst>
              </a:tr>
              <a:tr h="877824">
                <a:tc>
                  <a:txBody>
                    <a:bodyPr/>
                    <a:lstStyle/>
                    <a:p>
                      <a:pPr algn="l"/>
                      <a:r>
                        <a:rPr sz="1000">
                          <a:solidFill>
                            <a:srgbClr val="0F172A"/>
                          </a:solidFill>
                          <a:latin typeface="Arial"/>
                        </a:rPr>
                        <a:t>Familiar with Postgres and MS SQL</a:t>
                      </a:r>
                    </a:p>
                  </a:txBody>
                  <a:tcPr>
                    <a:solidFill>
                      <a:srgbClr val="FFFFFF"/>
                    </a:solidFill>
                  </a:tcPr>
                </a:tc>
                <a:tc>
                  <a:txBody>
                    <a:bodyPr/>
                    <a:lstStyle/>
                    <a:p>
                      <a:pPr algn="l"/>
                      <a:r>
                        <a:rPr sz="1000">
                          <a:solidFill>
                            <a:srgbClr val="0F172A"/>
                          </a:solidFill>
                          <a:latin typeface="Arial"/>
                        </a:rPr>
                        <a:t>PostgreSQL, SQL</a:t>
                      </a:r>
                    </a:p>
                  </a:txBody>
                  <a:tcPr>
                    <a:solidFill>
                      <a:srgbClr val="FFFFFF"/>
                    </a:solidFill>
                  </a:tcPr>
                </a:tc>
                <a:tc>
                  <a:txBody>
                    <a:bodyPr/>
                    <a:lstStyle/>
                    <a:p>
                      <a:pPr algn="l"/>
                      <a:r>
                        <a:rPr sz="1000">
                          <a:solidFill>
                            <a:srgbClr val="0F172A"/>
                          </a:solidFill>
                          <a:latin typeface="Arial"/>
                        </a:rPr>
                        <a:t>MS SQL</a:t>
                      </a:r>
                    </a:p>
                  </a:txBody>
                  <a:tcPr>
                    <a:solidFill>
                      <a:srgbClr val="FFFFFF"/>
                    </a:solidFill>
                  </a:tcPr>
                </a:tc>
                <a:tc>
                  <a:txBody>
                    <a:bodyPr/>
                    <a:lstStyle/>
                    <a:p>
                      <a:pPr algn="l"/>
                      <a:r>
                        <a:rPr sz="1000" b="1">
                          <a:solidFill>
                            <a:srgbClr val="D97706"/>
                          </a:solidFill>
                          <a:latin typeface="Arial"/>
                        </a:rPr>
                        <a:t>False negative / boundary overlap</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8C443D-C820-4FEB-B7A7-A213F5EBA8A2}"/>
              </a:ext>
            </a:extLst>
          </p:cNvPr>
          <p:cNvPicPr/>
          <p:nvPr/>
        </p:nvPicPr>
        <p:blipFill>
          <a:blip r:embed="rId2"/>
          <a:stretch>
            <a:fillRect/>
          </a:stretch>
        </p:blipFill>
        <p:spPr>
          <a:xfrm>
            <a:off x="0" y="0"/>
            <a:ext cx="12192000" cy="6858000"/>
          </a:xfrm>
          <a:prstGeom prst="rect">
            <a:avLst/>
          </a:prstGeom>
          <a:effectLst>
            <a:glow rad="127000">
              <a:schemeClr val="accent1"/>
            </a:glow>
            <a:outerShdw blurRad="50800" dist="50800" dir="5400000" sx="1000" sy="1000" algn="ctr" rotWithShape="0">
              <a:schemeClr val="tx1"/>
            </a:outerShdw>
          </a:effectLst>
        </p:spPr>
      </p:pic>
    </p:spTree>
    <p:extLst>
      <p:ext uri="{BB962C8B-B14F-4D97-AF65-F5344CB8AC3E}">
        <p14:creationId xmlns:p14="http://schemas.microsoft.com/office/powerpoint/2010/main" val="3534363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Streamlit application integrates backend models with interactive UI</a:t>
            </a:r>
          </a:p>
          <a:p>
            <a:pPr>
              <a:defRPr sz="1200" i="1">
                <a:solidFill>
                  <a:srgbClr val="0D9488"/>
                </a:solidFill>
                <a:latin typeface="Arial"/>
              </a:defRPr>
            </a:pPr>
            <a:r>
              <a:t>Job Skill Extractor &amp; Analytics Web App Flow</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554480"/>
            <a:ext cx="5120640" cy="4572000"/>
          </a:xfrm>
          <a:prstGeom prst="rect">
            <a:avLst/>
          </a:prstGeom>
          <a:noFill/>
        </p:spPr>
        <p:txBody>
          <a:bodyPr wrap="square">
            <a:spAutoFit/>
          </a:bodyPr>
          <a:lstStyle/>
          <a:p>
            <a:pPr>
              <a:spcAft>
                <a:spcPts val="1200"/>
              </a:spcAft>
              <a:defRPr sz="1800" b="1">
                <a:solidFill>
                  <a:srgbClr val="1E3A8A"/>
                </a:solidFill>
                <a:latin typeface="Georgia"/>
              </a:defRPr>
            </a:pPr>
            <a:r>
              <a:t>Operational Software Architecture</a:t>
            </a:r>
          </a:p>
          <a:p>
            <a:pPr>
              <a:spcBef>
                <a:spcPts val="300"/>
              </a:spcBef>
              <a:spcAft>
                <a:spcPts val="700"/>
              </a:spcAft>
            </a:pPr>
            <a:r>
              <a:rPr sz="1350">
                <a:solidFill>
                  <a:srgbClr val="0D9488"/>
                </a:solidFill>
                <a:latin typeface="Arial"/>
              </a:rPr>
              <a:t>▪ </a:t>
            </a:r>
            <a:r>
              <a:rPr sz="1350" b="1">
                <a:solidFill>
                  <a:srgbClr val="0F172A"/>
                </a:solidFill>
                <a:latin typeface="Arial"/>
              </a:rPr>
              <a:t>Streamlit Implementation: </a:t>
            </a:r>
            <a:r>
              <a:rPr sz="1350">
                <a:solidFill>
                  <a:srgbClr val="64748B"/>
                </a:solidFill>
                <a:latin typeface="Arial"/>
              </a:rPr>
              <a:t>Creates an interactive, lightweight web frontend (app.py) that imports backend models directly, ensuring complete decoupling of core logic.</a:t>
            </a:r>
          </a:p>
          <a:p>
            <a:pPr>
              <a:spcBef>
                <a:spcPts val="300"/>
              </a:spcBef>
              <a:spcAft>
                <a:spcPts val="700"/>
              </a:spcAft>
            </a:pPr>
            <a:r>
              <a:rPr sz="1350">
                <a:solidFill>
                  <a:srgbClr val="0D9488"/>
                </a:solidFill>
                <a:latin typeface="Arial"/>
              </a:rPr>
              <a:t>▪ </a:t>
            </a:r>
            <a:r>
              <a:rPr sz="1350" b="1">
                <a:solidFill>
                  <a:srgbClr val="0F172A"/>
                </a:solidFill>
                <a:latin typeface="Arial"/>
              </a:rPr>
              <a:t>Visual Skill Extraction: </a:t>
            </a:r>
            <a:r>
              <a:rPr sz="1350">
                <a:solidFill>
                  <a:srgbClr val="64748B"/>
                </a:solidFill>
                <a:latin typeface="Arial"/>
              </a:rPr>
              <a:t>Users paste a raw job description, click 'Extract', and see canonical matched skills rendered instantly as interactive visual tags (chips).</a:t>
            </a:r>
          </a:p>
          <a:p>
            <a:pPr>
              <a:spcBef>
                <a:spcPts val="300"/>
              </a:spcBef>
              <a:spcAft>
                <a:spcPts val="700"/>
              </a:spcAft>
            </a:pPr>
            <a:r>
              <a:rPr sz="1350">
                <a:solidFill>
                  <a:srgbClr val="0D9488"/>
                </a:solidFill>
                <a:latin typeface="Arial"/>
              </a:rPr>
              <a:t>▪ </a:t>
            </a:r>
            <a:r>
              <a:rPr sz="1350" b="1">
                <a:solidFill>
                  <a:srgbClr val="0F172A"/>
                </a:solidFill>
                <a:latin typeface="Arial"/>
              </a:rPr>
              <a:t>Exploration &amp; Analytics: </a:t>
            </a:r>
            <a:r>
              <a:rPr sz="1350">
                <a:solidFill>
                  <a:srgbClr val="64748B"/>
                </a:solidFill>
                <a:latin typeface="Arial"/>
              </a:rPr>
              <a:t>Loads cleaned_job_dataset.csv, enabling filters by Job Title, Location, and Job Type. Aggregates skills to output real-time demand bar charts.</a:t>
            </a:r>
          </a:p>
          <a:p>
            <a:pPr>
              <a:spcBef>
                <a:spcPts val="300"/>
              </a:spcBef>
              <a:spcAft>
                <a:spcPts val="700"/>
              </a:spcAft>
            </a:pPr>
            <a:r>
              <a:rPr sz="1350">
                <a:solidFill>
                  <a:srgbClr val="0D9488"/>
                </a:solidFill>
                <a:latin typeface="Arial"/>
              </a:rPr>
              <a:t>▪ </a:t>
            </a:r>
            <a:r>
              <a:rPr sz="1350" b="1">
                <a:solidFill>
                  <a:srgbClr val="0F172A"/>
                </a:solidFill>
                <a:latin typeface="Arial"/>
              </a:rPr>
              <a:t>Downloadable Results: </a:t>
            </a:r>
            <a:r>
              <a:rPr sz="1350">
                <a:solidFill>
                  <a:srgbClr val="64748B"/>
                </a:solidFill>
                <a:latin typeface="Arial"/>
              </a:rPr>
              <a:t>Allows recruiters to export extracted skills or role demand data directly as downloadable CSV files.</a:t>
            </a:r>
          </a:p>
        </p:txBody>
      </p:sp>
      <p:sp>
        <p:nvSpPr>
          <p:cNvPr id="5" name="Rounded Rectangle 4"/>
          <p:cNvSpPr/>
          <p:nvPr/>
        </p:nvSpPr>
        <p:spPr>
          <a:xfrm>
            <a:off x="6035040" y="1554480"/>
            <a:ext cx="54864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ctr">
              <a:spcAft>
                <a:spcPts val="200"/>
              </a:spcAft>
              <a:defRPr sz="1300" b="1">
                <a:solidFill>
                  <a:srgbClr val="0D9488"/>
                </a:solidFill>
                <a:latin typeface="Georgia"/>
              </a:defRPr>
            </a:pPr>
            <a:r>
              <a:t>1. Interactive Dashboard Tab</a:t>
            </a:r>
          </a:p>
          <a:p>
            <a:pPr>
              <a:defRPr sz="1050">
                <a:solidFill>
                  <a:srgbClr val="64748B"/>
                </a:solidFill>
                <a:latin typeface="Arial"/>
              </a:defRPr>
            </a:pPr>
            <a:r>
              <a:t>View high-level summary KPIs and general distributions across the corpus.</a:t>
            </a:r>
          </a:p>
        </p:txBody>
      </p:sp>
      <p:sp>
        <p:nvSpPr>
          <p:cNvPr id="6" name="Rounded Rectangle 5"/>
          <p:cNvSpPr/>
          <p:nvPr/>
        </p:nvSpPr>
        <p:spPr>
          <a:xfrm>
            <a:off x="6035040" y="2633472"/>
            <a:ext cx="54864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ctr">
              <a:spcAft>
                <a:spcPts val="200"/>
              </a:spcAft>
              <a:defRPr sz="1300" b="1">
                <a:solidFill>
                  <a:srgbClr val="0D9488"/>
                </a:solidFill>
                <a:latin typeface="Georgia"/>
              </a:defRPr>
            </a:pPr>
            <a:r>
              <a:t>2. Extract Skills Tab</a:t>
            </a:r>
          </a:p>
          <a:p>
            <a:pPr>
              <a:defRPr sz="1050">
                <a:solidFill>
                  <a:srgbClr val="64748B"/>
                </a:solidFill>
                <a:latin typeface="Arial"/>
              </a:defRPr>
            </a:pPr>
            <a:r>
              <a:t>Paste any raw text or select database records to extract normalized skills.</a:t>
            </a:r>
          </a:p>
        </p:txBody>
      </p:sp>
      <p:sp>
        <p:nvSpPr>
          <p:cNvPr id="7" name="Rounded Rectangle 6"/>
          <p:cNvSpPr/>
          <p:nvPr/>
        </p:nvSpPr>
        <p:spPr>
          <a:xfrm>
            <a:off x="6035040" y="3712464"/>
            <a:ext cx="54864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ctr">
              <a:spcAft>
                <a:spcPts val="200"/>
              </a:spcAft>
              <a:defRPr sz="1300" b="1">
                <a:solidFill>
                  <a:srgbClr val="0D9488"/>
                </a:solidFill>
                <a:latin typeface="Georgia"/>
              </a:defRPr>
            </a:pPr>
            <a:r>
              <a:t>3. Dataset Explorer Tab</a:t>
            </a:r>
          </a:p>
          <a:p>
            <a:pPr>
              <a:defRPr sz="1050">
                <a:solidFill>
                  <a:srgbClr val="64748B"/>
                </a:solidFill>
                <a:latin typeface="Arial"/>
              </a:defRPr>
            </a:pPr>
            <a:r>
              <a:t>Filter, search, and inspect cleaned records with custom filters.</a:t>
            </a:r>
          </a:p>
        </p:txBody>
      </p:sp>
      <p:sp>
        <p:nvSpPr>
          <p:cNvPr id="8" name="Rounded Rectangle 7"/>
          <p:cNvSpPr/>
          <p:nvPr/>
        </p:nvSpPr>
        <p:spPr>
          <a:xfrm>
            <a:off x="6035040" y="4791456"/>
            <a:ext cx="54864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ctr">
              <a:spcAft>
                <a:spcPts val="200"/>
              </a:spcAft>
              <a:defRPr sz="1300" b="1">
                <a:solidFill>
                  <a:srgbClr val="0D9488"/>
                </a:solidFill>
                <a:latin typeface="Georgia"/>
              </a:defRPr>
            </a:pPr>
            <a:r>
              <a:t>4. Skill Demand Analysis Tab</a:t>
            </a:r>
          </a:p>
          <a:p>
            <a:pPr>
              <a:defRPr sz="1050">
                <a:solidFill>
                  <a:srgbClr val="64748B"/>
                </a:solidFill>
                <a:latin typeface="Arial"/>
              </a:defRPr>
            </a:pPr>
            <a:r>
              <a:t>Examine specific role-wise skill frequencies and export CSVs.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E35E34-4C66-4B4D-9571-4FCD457534E3}"/>
              </a:ext>
            </a:extLst>
          </p:cNvPr>
          <p:cNvPicPr/>
          <p:nvPr/>
        </p:nvPicPr>
        <p:blipFill>
          <a:blip r:embed="rId2"/>
          <a:stretch>
            <a:fillRect/>
          </a:stretch>
        </p:blipFill>
        <p:spPr>
          <a:xfrm>
            <a:off x="1414021" y="1121789"/>
            <a:ext cx="9568206" cy="5316717"/>
          </a:xfrm>
          <a:prstGeom prst="rect">
            <a:avLst/>
          </a:prstGeom>
        </p:spPr>
      </p:pic>
      <p:sp>
        <p:nvSpPr>
          <p:cNvPr id="3" name="TextBox 2">
            <a:extLst>
              <a:ext uri="{FF2B5EF4-FFF2-40B4-BE49-F238E27FC236}">
                <a16:creationId xmlns:a16="http://schemas.microsoft.com/office/drawing/2014/main" id="{2D1F5A15-E59E-410C-A1CA-09707B48F442}"/>
              </a:ext>
            </a:extLst>
          </p:cNvPr>
          <p:cNvSpPr txBox="1"/>
          <p:nvPr/>
        </p:nvSpPr>
        <p:spPr>
          <a:xfrm>
            <a:off x="1018095" y="509047"/>
            <a:ext cx="2743200" cy="374873"/>
          </a:xfrm>
          <a:prstGeom prst="rect">
            <a:avLst/>
          </a:prstGeom>
          <a:noFill/>
        </p:spPr>
        <p:txBody>
          <a:bodyPr wrap="square" rtlCol="0">
            <a:spAutoFit/>
          </a:bodyPr>
          <a:lstStyle/>
          <a:p>
            <a:r>
              <a:rPr lang="en-US" dirty="0"/>
              <a:t>Login Page</a:t>
            </a:r>
          </a:p>
        </p:txBody>
      </p:sp>
    </p:spTree>
    <p:extLst>
      <p:ext uri="{BB962C8B-B14F-4D97-AF65-F5344CB8AC3E}">
        <p14:creationId xmlns:p14="http://schemas.microsoft.com/office/powerpoint/2010/main" val="2812944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8BBE2C-11F8-45CB-9AA0-AB4FEC9894B2}"/>
              </a:ext>
            </a:extLst>
          </p:cNvPr>
          <p:cNvPicPr/>
          <p:nvPr/>
        </p:nvPicPr>
        <p:blipFill>
          <a:blip r:embed="rId2"/>
          <a:stretch>
            <a:fillRect/>
          </a:stretch>
        </p:blipFill>
        <p:spPr>
          <a:xfrm>
            <a:off x="0" y="838986"/>
            <a:ext cx="12192000" cy="6019014"/>
          </a:xfrm>
          <a:prstGeom prst="rect">
            <a:avLst/>
          </a:prstGeom>
        </p:spPr>
      </p:pic>
      <p:sp>
        <p:nvSpPr>
          <p:cNvPr id="3" name="TextBox 2">
            <a:extLst>
              <a:ext uri="{FF2B5EF4-FFF2-40B4-BE49-F238E27FC236}">
                <a16:creationId xmlns:a16="http://schemas.microsoft.com/office/drawing/2014/main" id="{88336F92-2E9B-4505-B14B-6F55796CD68A}"/>
              </a:ext>
            </a:extLst>
          </p:cNvPr>
          <p:cNvSpPr txBox="1"/>
          <p:nvPr/>
        </p:nvSpPr>
        <p:spPr>
          <a:xfrm>
            <a:off x="725864" y="245097"/>
            <a:ext cx="3214540" cy="369332"/>
          </a:xfrm>
          <a:prstGeom prst="rect">
            <a:avLst/>
          </a:prstGeom>
          <a:noFill/>
        </p:spPr>
        <p:txBody>
          <a:bodyPr wrap="square" rtlCol="0">
            <a:spAutoFit/>
          </a:bodyPr>
          <a:lstStyle/>
          <a:p>
            <a:r>
              <a:rPr lang="en-US" dirty="0"/>
              <a:t>Dashboard</a:t>
            </a:r>
          </a:p>
        </p:txBody>
      </p:sp>
    </p:spTree>
    <p:extLst>
      <p:ext uri="{BB962C8B-B14F-4D97-AF65-F5344CB8AC3E}">
        <p14:creationId xmlns:p14="http://schemas.microsoft.com/office/powerpoint/2010/main" val="2903419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77295" cy="868680"/>
          </a:xfrm>
          <a:prstGeom prst="rect">
            <a:avLst/>
          </a:prstGeom>
          <a:noFill/>
        </p:spPr>
        <p:txBody>
          <a:bodyPr wrap="square" lIns="0" tIns="0" rIns="0" bIns="0">
            <a:spAutoFit/>
          </a:bodyPr>
          <a:lstStyle/>
          <a:p>
            <a:pPr>
              <a:spcAft>
                <a:spcPts val="100"/>
              </a:spcAft>
              <a:defRPr sz="2200" b="1">
                <a:solidFill>
                  <a:srgbClr val="0F172A"/>
                </a:solidFill>
                <a:latin typeface="Georgia"/>
              </a:defRPr>
            </a:pPr>
            <a:r>
              <a:t>Internship bridges statistical theory and software integration</a:t>
            </a:r>
          </a:p>
          <a:p>
            <a:pPr>
              <a:defRPr sz="1200" i="1">
                <a:solidFill>
                  <a:srgbClr val="0D9488"/>
                </a:solidFill>
                <a:latin typeface="Arial"/>
              </a:defRPr>
            </a:pPr>
            <a:r>
              <a:t>Key Learning Outcomes, Limitations &amp; Future Engineering Roadmap</a:t>
            </a:r>
          </a:p>
        </p:txBody>
      </p:sp>
      <p:sp>
        <p:nvSpPr>
          <p:cNvPr id="3" name="Rectangle 2"/>
          <p:cNvSpPr/>
          <p:nvPr/>
        </p:nvSpPr>
        <p:spPr>
          <a:xfrm>
            <a:off x="457200" y="1188720"/>
            <a:ext cx="11277295" cy="1905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93520" y="1554480"/>
            <a:ext cx="9509760" cy="2064668"/>
          </a:xfrm>
          <a:prstGeom prst="rect">
            <a:avLst/>
          </a:prstGeom>
          <a:noFill/>
        </p:spPr>
        <p:txBody>
          <a:bodyPr wrap="square">
            <a:spAutoFit/>
          </a:bodyPr>
          <a:lstStyle/>
          <a:p>
            <a:pPr>
              <a:spcAft>
                <a:spcPts val="1200"/>
              </a:spcAft>
              <a:defRPr sz="1800" b="1">
                <a:solidFill>
                  <a:srgbClr val="1E3A8A"/>
                </a:solidFill>
                <a:latin typeface="Georgia"/>
              </a:defRPr>
            </a:pPr>
            <a:r>
              <a:rPr dirty="0"/>
              <a:t>Internship Learning Outcomes</a:t>
            </a:r>
          </a:p>
          <a:p>
            <a:pPr>
              <a:spcBef>
                <a:spcPts val="300"/>
              </a:spcBef>
              <a:spcAft>
                <a:spcPts val="700"/>
              </a:spcAft>
            </a:pPr>
            <a:r>
              <a:rPr sz="1350" dirty="0">
                <a:solidFill>
                  <a:srgbClr val="0D9488"/>
                </a:solidFill>
                <a:latin typeface="Arial"/>
              </a:rPr>
              <a:t>▪ </a:t>
            </a:r>
            <a:r>
              <a:rPr sz="1350" b="1" dirty="0">
                <a:solidFill>
                  <a:srgbClr val="0F172A"/>
                </a:solidFill>
                <a:latin typeface="Arial"/>
              </a:rPr>
              <a:t>Technical Upskilling: </a:t>
            </a:r>
            <a:r>
              <a:rPr sz="1350" dirty="0">
                <a:solidFill>
                  <a:srgbClr val="64748B"/>
                </a:solidFill>
                <a:latin typeface="Arial"/>
              </a:rPr>
              <a:t>Mastered Pandas for data cleaning, custom regex design, and </a:t>
            </a:r>
            <a:r>
              <a:rPr sz="1350" dirty="0" err="1">
                <a:solidFill>
                  <a:srgbClr val="64748B"/>
                </a:solidFill>
                <a:latin typeface="Arial"/>
              </a:rPr>
              <a:t>Scikit</a:t>
            </a:r>
            <a:r>
              <a:rPr sz="1350" dirty="0">
                <a:solidFill>
                  <a:srgbClr val="64748B"/>
                </a:solidFill>
                <a:latin typeface="Arial"/>
              </a:rPr>
              <a:t>-learn for character N-gram classification.</a:t>
            </a:r>
          </a:p>
          <a:p>
            <a:pPr>
              <a:spcBef>
                <a:spcPts val="300"/>
              </a:spcBef>
              <a:spcAft>
                <a:spcPts val="700"/>
              </a:spcAft>
            </a:pPr>
            <a:r>
              <a:rPr sz="1350" dirty="0">
                <a:solidFill>
                  <a:srgbClr val="0D9488"/>
                </a:solidFill>
                <a:latin typeface="Arial"/>
              </a:rPr>
              <a:t>▪ </a:t>
            </a:r>
            <a:r>
              <a:rPr sz="1350" b="1" dirty="0">
                <a:solidFill>
                  <a:srgbClr val="0F172A"/>
                </a:solidFill>
                <a:latin typeface="Arial"/>
              </a:rPr>
              <a:t>Statistical Application: </a:t>
            </a:r>
            <a:r>
              <a:rPr sz="1350" dirty="0">
                <a:solidFill>
                  <a:srgbClr val="64748B"/>
                </a:solidFill>
                <a:latin typeface="Arial"/>
              </a:rPr>
              <a:t>Mapped probability concepts to TF-IDF weights and understood </a:t>
            </a:r>
            <a:r>
              <a:rPr sz="1350" dirty="0" err="1">
                <a:solidFill>
                  <a:srgbClr val="64748B"/>
                </a:solidFill>
                <a:latin typeface="Arial"/>
              </a:rPr>
              <a:t>TruncatedSVD</a:t>
            </a:r>
            <a:r>
              <a:rPr sz="1350" dirty="0">
                <a:solidFill>
                  <a:srgbClr val="64748B"/>
                </a:solidFill>
                <a:latin typeface="Arial"/>
              </a:rPr>
              <a:t> dimensionality reduction for LSA.</a:t>
            </a:r>
          </a:p>
          <a:p>
            <a:pPr>
              <a:spcBef>
                <a:spcPts val="300"/>
              </a:spcBef>
              <a:spcAft>
                <a:spcPts val="700"/>
              </a:spcAft>
            </a:pPr>
            <a:r>
              <a:rPr sz="1350" dirty="0">
                <a:solidFill>
                  <a:srgbClr val="0D9488"/>
                </a:solidFill>
                <a:latin typeface="Arial"/>
              </a:rPr>
              <a:t>▪ </a:t>
            </a:r>
            <a:r>
              <a:rPr sz="1350" b="1" dirty="0">
                <a:solidFill>
                  <a:srgbClr val="0F172A"/>
                </a:solidFill>
                <a:latin typeface="Arial"/>
              </a:rPr>
              <a:t>Practical Deployment: </a:t>
            </a:r>
            <a:r>
              <a:rPr sz="1350" dirty="0">
                <a:solidFill>
                  <a:srgbClr val="64748B"/>
                </a:solidFill>
                <a:latin typeface="Arial"/>
              </a:rPr>
              <a:t>Gained experience in separating core algorithmic logic from the </a:t>
            </a:r>
            <a:r>
              <a:rPr sz="1350" dirty="0" err="1">
                <a:solidFill>
                  <a:srgbClr val="64748B"/>
                </a:solidFill>
                <a:latin typeface="Arial"/>
              </a:rPr>
              <a:t>Streamlit</a:t>
            </a:r>
            <a:r>
              <a:rPr sz="1350" dirty="0">
                <a:solidFill>
                  <a:srgbClr val="64748B"/>
                </a:solidFill>
                <a:latin typeface="Arial"/>
              </a:rPr>
              <a:t> UI to build deployable, robust software.</a:t>
            </a: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175</TotalTime>
  <Words>3360</Words>
  <Application>Microsoft Office PowerPoint</Application>
  <PresentationFormat>Widescreen</PresentationFormat>
  <Paragraphs>268</Paragraphs>
  <Slides>18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Georgia</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keywords/>
  <dc:description>generated using python-pptx</dc:description>
  <cp:lastModifiedBy>HP</cp:lastModifiedBy>
  <cp:revision>12</cp:revision>
  <dcterms:created xsi:type="dcterms:W3CDTF">2013-01-27T09:14:16Z</dcterms:created>
  <dcterms:modified xsi:type="dcterms:W3CDTF">2026-09-10T05:03:23Z</dcterms:modified>
  <cp:category/>
</cp:coreProperties>
</file>